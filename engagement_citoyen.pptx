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va Sans" panose="020B0604020202020204" charset="0"/>
      <p:regular r:id="rId18"/>
    </p:embeddedFont>
    <p:embeddedFont>
      <p:font typeface="Canva Sans Bold" panose="020B0604020202020204" charset="0"/>
      <p:regular r:id="rId19"/>
    </p:embeddedFont>
    <p:embeddedFont>
      <p:font typeface="Canva Sans Italics" panose="020B0604020202020204" charset="0"/>
      <p:regular r:id="rId20"/>
    </p:embeddedFont>
    <p:embeddedFont>
      <p:font typeface="Canva Sans Medium Italics" panose="020B0604020202020204" charset="0"/>
      <p:regular r:id="rId21"/>
    </p:embeddedFont>
    <p:embeddedFont>
      <p:font typeface="Cy Grotesk Key" panose="020B0604020202020204" charset="0"/>
      <p:regular r:id="rId22"/>
    </p:embeddedFont>
    <p:embeddedFont>
      <p:font typeface="Cy Grotesk Key Bold" panose="020B0604020202020204" charset="0"/>
      <p:regular r:id="rId23"/>
    </p:embeddedFont>
    <p:embeddedFont>
      <p:font typeface="Cy Grotesk Key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a:off x="746881" y="665485"/>
            <a:ext cx="985100" cy="922300"/>
          </a:xfrm>
          <a:custGeom>
            <a:avLst/>
            <a:gdLst/>
            <a:ahLst/>
            <a:cxnLst/>
            <a:rect l="l" t="t" r="r" b="b"/>
            <a:pathLst>
              <a:path w="985100" h="922300">
                <a:moveTo>
                  <a:pt x="0" y="0"/>
                </a:moveTo>
                <a:lnTo>
                  <a:pt x="985100" y="0"/>
                </a:lnTo>
                <a:lnTo>
                  <a:pt x="985100" y="922300"/>
                </a:lnTo>
                <a:lnTo>
                  <a:pt x="0" y="9223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grpSp>
        <p:nvGrpSpPr>
          <p:cNvPr id="3" name="Group 3"/>
          <p:cNvGrpSpPr/>
          <p:nvPr/>
        </p:nvGrpSpPr>
        <p:grpSpPr>
          <a:xfrm>
            <a:off x="1239431" y="2702675"/>
            <a:ext cx="11423132" cy="4927845"/>
            <a:chOff x="0" y="0"/>
            <a:chExt cx="6864605" cy="2961334"/>
          </a:xfrm>
        </p:grpSpPr>
        <p:sp>
          <p:nvSpPr>
            <p:cNvPr id="4" name="Freeform 4"/>
            <p:cNvSpPr/>
            <p:nvPr/>
          </p:nvSpPr>
          <p:spPr>
            <a:xfrm>
              <a:off x="0" y="0"/>
              <a:ext cx="6864605" cy="2961334"/>
            </a:xfrm>
            <a:custGeom>
              <a:avLst/>
              <a:gdLst/>
              <a:ahLst/>
              <a:cxnLst/>
              <a:rect l="l" t="t" r="r" b="b"/>
              <a:pathLst>
                <a:path w="6864605" h="2961334">
                  <a:moveTo>
                    <a:pt x="20332" y="0"/>
                  </a:moveTo>
                  <a:lnTo>
                    <a:pt x="6844273" y="0"/>
                  </a:lnTo>
                  <a:cubicBezTo>
                    <a:pt x="6849666" y="0"/>
                    <a:pt x="6854837" y="2142"/>
                    <a:pt x="6858650" y="5955"/>
                  </a:cubicBezTo>
                  <a:cubicBezTo>
                    <a:pt x="6862463" y="9768"/>
                    <a:pt x="6864605" y="14940"/>
                    <a:pt x="6864605" y="20332"/>
                  </a:cubicBezTo>
                  <a:lnTo>
                    <a:pt x="6864605" y="2941002"/>
                  </a:lnTo>
                  <a:cubicBezTo>
                    <a:pt x="6864605" y="2952231"/>
                    <a:pt x="6855502" y="2961334"/>
                    <a:pt x="6844273" y="2961334"/>
                  </a:cubicBezTo>
                  <a:lnTo>
                    <a:pt x="20332" y="2961334"/>
                  </a:lnTo>
                  <a:cubicBezTo>
                    <a:pt x="14940" y="2961334"/>
                    <a:pt x="9768" y="2959192"/>
                    <a:pt x="5955" y="2955379"/>
                  </a:cubicBezTo>
                  <a:cubicBezTo>
                    <a:pt x="2142" y="2951566"/>
                    <a:pt x="0" y="2946394"/>
                    <a:pt x="0" y="2941002"/>
                  </a:cubicBezTo>
                  <a:lnTo>
                    <a:pt x="0" y="20332"/>
                  </a:lnTo>
                  <a:cubicBezTo>
                    <a:pt x="0" y="14940"/>
                    <a:pt x="2142" y="9768"/>
                    <a:pt x="5955" y="5955"/>
                  </a:cubicBezTo>
                  <a:cubicBezTo>
                    <a:pt x="9768" y="2142"/>
                    <a:pt x="14940" y="0"/>
                    <a:pt x="20332" y="0"/>
                  </a:cubicBezTo>
                  <a:close/>
                </a:path>
              </a:pathLst>
            </a:custGeom>
            <a:solidFill>
              <a:srgbClr val="FFFFFF"/>
            </a:solidFill>
            <a:ln w="19050" cap="rnd">
              <a:solidFill>
                <a:srgbClr val="000000"/>
              </a:solidFill>
              <a:prstDash val="solid"/>
              <a:round/>
            </a:ln>
          </p:spPr>
          <p:txBody>
            <a:bodyPr/>
            <a:lstStyle/>
            <a:p>
              <a:endParaRPr lang="fr-FR"/>
            </a:p>
          </p:txBody>
        </p:sp>
        <p:sp>
          <p:nvSpPr>
            <p:cNvPr id="5" name="TextBox 5"/>
            <p:cNvSpPr txBox="1"/>
            <p:nvPr/>
          </p:nvSpPr>
          <p:spPr>
            <a:xfrm>
              <a:off x="0" y="-38100"/>
              <a:ext cx="6864605" cy="299943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flipH="1" flipV="1">
            <a:off x="16556019" y="8699215"/>
            <a:ext cx="985100" cy="922300"/>
          </a:xfrm>
          <a:custGeom>
            <a:avLst/>
            <a:gdLst/>
            <a:ahLst/>
            <a:cxnLst/>
            <a:rect l="l" t="t" r="r" b="b"/>
            <a:pathLst>
              <a:path w="985100" h="922300">
                <a:moveTo>
                  <a:pt x="985100" y="922300"/>
                </a:moveTo>
                <a:lnTo>
                  <a:pt x="0" y="922300"/>
                </a:lnTo>
                <a:lnTo>
                  <a:pt x="0" y="0"/>
                </a:lnTo>
                <a:lnTo>
                  <a:pt x="985100" y="0"/>
                </a:lnTo>
                <a:lnTo>
                  <a:pt x="985100" y="9223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7" name="Freeform 7"/>
          <p:cNvSpPr/>
          <p:nvPr/>
        </p:nvSpPr>
        <p:spPr>
          <a:xfrm>
            <a:off x="13182600" y="2335449"/>
            <a:ext cx="4756328" cy="5662296"/>
          </a:xfrm>
          <a:custGeom>
            <a:avLst/>
            <a:gdLst/>
            <a:ahLst/>
            <a:cxnLst/>
            <a:rect l="l" t="t" r="r" b="b"/>
            <a:pathLst>
              <a:path w="4756328" h="5662296">
                <a:moveTo>
                  <a:pt x="0" y="0"/>
                </a:moveTo>
                <a:lnTo>
                  <a:pt x="4756328" y="0"/>
                </a:lnTo>
                <a:lnTo>
                  <a:pt x="4756328" y="5662296"/>
                </a:lnTo>
                <a:lnTo>
                  <a:pt x="0" y="566229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8" name="Freeform 8"/>
          <p:cNvSpPr/>
          <p:nvPr/>
        </p:nvSpPr>
        <p:spPr>
          <a:xfrm rot="1880678">
            <a:off x="13390969" y="40368"/>
            <a:ext cx="7315200" cy="1250234"/>
          </a:xfrm>
          <a:custGeom>
            <a:avLst/>
            <a:gdLst/>
            <a:ahLst/>
            <a:cxnLst/>
            <a:rect l="l" t="t" r="r" b="b"/>
            <a:pathLst>
              <a:path w="7315200" h="1250234">
                <a:moveTo>
                  <a:pt x="0" y="0"/>
                </a:moveTo>
                <a:lnTo>
                  <a:pt x="7315200" y="0"/>
                </a:lnTo>
                <a:lnTo>
                  <a:pt x="7315200" y="1250235"/>
                </a:lnTo>
                <a:lnTo>
                  <a:pt x="0" y="12502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9" name="Freeform 9"/>
          <p:cNvSpPr/>
          <p:nvPr/>
        </p:nvSpPr>
        <p:spPr>
          <a:xfrm rot="1880678" flipV="1">
            <a:off x="-3167092" y="8776506"/>
            <a:ext cx="7315200" cy="1250234"/>
          </a:xfrm>
          <a:custGeom>
            <a:avLst/>
            <a:gdLst/>
            <a:ahLst/>
            <a:cxnLst/>
            <a:rect l="l" t="t" r="r" b="b"/>
            <a:pathLst>
              <a:path w="7315200" h="1250234">
                <a:moveTo>
                  <a:pt x="0" y="1250234"/>
                </a:moveTo>
                <a:lnTo>
                  <a:pt x="7315200" y="1250234"/>
                </a:lnTo>
                <a:lnTo>
                  <a:pt x="7315200" y="0"/>
                </a:lnTo>
                <a:lnTo>
                  <a:pt x="0" y="0"/>
                </a:lnTo>
                <a:lnTo>
                  <a:pt x="0" y="1250234"/>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10" name="Freeform 10"/>
          <p:cNvSpPr/>
          <p:nvPr/>
        </p:nvSpPr>
        <p:spPr>
          <a:xfrm>
            <a:off x="15236161" y="2974028"/>
            <a:ext cx="1319858" cy="868707"/>
          </a:xfrm>
          <a:custGeom>
            <a:avLst/>
            <a:gdLst/>
            <a:ahLst/>
            <a:cxnLst/>
            <a:rect l="l" t="t" r="r" b="b"/>
            <a:pathLst>
              <a:path w="1319858" h="868707">
                <a:moveTo>
                  <a:pt x="0" y="0"/>
                </a:moveTo>
                <a:lnTo>
                  <a:pt x="1319858" y="0"/>
                </a:lnTo>
                <a:lnTo>
                  <a:pt x="1319858" y="868707"/>
                </a:lnTo>
                <a:lnTo>
                  <a:pt x="0" y="86870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1" name="TextBox 11"/>
          <p:cNvSpPr txBox="1"/>
          <p:nvPr/>
        </p:nvSpPr>
        <p:spPr>
          <a:xfrm>
            <a:off x="2028060" y="4144868"/>
            <a:ext cx="11858129" cy="2374048"/>
          </a:xfrm>
          <a:prstGeom prst="rect">
            <a:avLst/>
          </a:prstGeom>
        </p:spPr>
        <p:txBody>
          <a:bodyPr lIns="0" tIns="0" rIns="0" bIns="0" rtlCol="0" anchor="t">
            <a:spAutoFit/>
          </a:bodyPr>
          <a:lstStyle/>
          <a:p>
            <a:pPr marL="0" lvl="0" indent="0" algn="l">
              <a:lnSpc>
                <a:spcPts val="9276"/>
              </a:lnSpc>
            </a:pPr>
            <a:r>
              <a:rPr lang="en-US" sz="8432" b="1" dirty="0">
                <a:solidFill>
                  <a:srgbClr val="000000"/>
                </a:solidFill>
                <a:latin typeface="Cy Grotesk Key Bold"/>
                <a:ea typeface="Cy Grotesk Key Bold"/>
                <a:cs typeface="Cy Grotesk Key Bold"/>
                <a:sym typeface="Cy Grotesk Key Bold"/>
              </a:rPr>
              <a:t>PROJET NUMÉRIQUE CITOYEN</a:t>
            </a:r>
          </a:p>
        </p:txBody>
      </p:sp>
      <p:sp>
        <p:nvSpPr>
          <p:cNvPr id="12" name="TextBox 12"/>
          <p:cNvSpPr txBox="1"/>
          <p:nvPr/>
        </p:nvSpPr>
        <p:spPr>
          <a:xfrm>
            <a:off x="2028060" y="3290299"/>
            <a:ext cx="8122969" cy="616406"/>
          </a:xfrm>
          <a:prstGeom prst="rect">
            <a:avLst/>
          </a:prstGeom>
        </p:spPr>
        <p:txBody>
          <a:bodyPr lIns="0" tIns="0" rIns="0" bIns="0" rtlCol="0" anchor="t">
            <a:spAutoFit/>
          </a:bodyPr>
          <a:lstStyle/>
          <a:p>
            <a:pPr marL="0" lvl="0" indent="0" algn="l">
              <a:lnSpc>
                <a:spcPts val="4714"/>
              </a:lnSpc>
            </a:pPr>
            <a:r>
              <a:rPr lang="en-US" sz="4285" b="1">
                <a:solidFill>
                  <a:srgbClr val="000000"/>
                </a:solidFill>
                <a:latin typeface="Cy Grotesk Key Bold"/>
                <a:ea typeface="Cy Grotesk Key Bold"/>
                <a:cs typeface="Cy Grotesk Key Bold"/>
                <a:sym typeface="Cy Grotesk Key Bold"/>
              </a:rPr>
              <a:t>VIGNEUX-SUR-SEINE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flipH="1" flipV="1">
            <a:off x="16556019" y="8699215"/>
            <a:ext cx="985100" cy="922300"/>
          </a:xfrm>
          <a:custGeom>
            <a:avLst/>
            <a:gdLst/>
            <a:ahLst/>
            <a:cxnLst/>
            <a:rect l="l" t="t" r="r" b="b"/>
            <a:pathLst>
              <a:path w="985100" h="922300">
                <a:moveTo>
                  <a:pt x="985100" y="922300"/>
                </a:moveTo>
                <a:lnTo>
                  <a:pt x="0" y="922300"/>
                </a:lnTo>
                <a:lnTo>
                  <a:pt x="0" y="0"/>
                </a:lnTo>
                <a:lnTo>
                  <a:pt x="985100" y="0"/>
                </a:lnTo>
                <a:lnTo>
                  <a:pt x="985100" y="9223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grpSp>
        <p:nvGrpSpPr>
          <p:cNvPr id="3" name="Group 3"/>
          <p:cNvGrpSpPr/>
          <p:nvPr/>
        </p:nvGrpSpPr>
        <p:grpSpPr>
          <a:xfrm>
            <a:off x="1352550" y="1265349"/>
            <a:ext cx="9705971" cy="8229600"/>
            <a:chOff x="0" y="0"/>
            <a:chExt cx="5832696" cy="4945487"/>
          </a:xfrm>
        </p:grpSpPr>
        <p:sp>
          <p:nvSpPr>
            <p:cNvPr id="4" name="Freeform 4"/>
            <p:cNvSpPr/>
            <p:nvPr/>
          </p:nvSpPr>
          <p:spPr>
            <a:xfrm>
              <a:off x="0" y="0"/>
              <a:ext cx="5832696" cy="4945487"/>
            </a:xfrm>
            <a:custGeom>
              <a:avLst/>
              <a:gdLst/>
              <a:ahLst/>
              <a:cxnLst/>
              <a:rect l="l" t="t" r="r" b="b"/>
              <a:pathLst>
                <a:path w="5832696" h="4945487">
                  <a:moveTo>
                    <a:pt x="23929" y="0"/>
                  </a:moveTo>
                  <a:lnTo>
                    <a:pt x="5808767" y="0"/>
                  </a:lnTo>
                  <a:cubicBezTo>
                    <a:pt x="5815113" y="0"/>
                    <a:pt x="5821200" y="2521"/>
                    <a:pt x="5825687" y="7009"/>
                  </a:cubicBezTo>
                  <a:cubicBezTo>
                    <a:pt x="5830175" y="11496"/>
                    <a:pt x="5832696" y="17583"/>
                    <a:pt x="5832696" y="23929"/>
                  </a:cubicBezTo>
                  <a:lnTo>
                    <a:pt x="5832696" y="4921558"/>
                  </a:lnTo>
                  <a:cubicBezTo>
                    <a:pt x="5832696" y="4927904"/>
                    <a:pt x="5830175" y="4933991"/>
                    <a:pt x="5825687" y="4938478"/>
                  </a:cubicBezTo>
                  <a:cubicBezTo>
                    <a:pt x="5821200" y="4942966"/>
                    <a:pt x="5815113" y="4945487"/>
                    <a:pt x="5808767" y="4945487"/>
                  </a:cubicBezTo>
                  <a:lnTo>
                    <a:pt x="23929" y="4945487"/>
                  </a:lnTo>
                  <a:cubicBezTo>
                    <a:pt x="17583" y="4945487"/>
                    <a:pt x="11496" y="4942966"/>
                    <a:pt x="7009" y="4938478"/>
                  </a:cubicBezTo>
                  <a:cubicBezTo>
                    <a:pt x="2521" y="4933991"/>
                    <a:pt x="0" y="4927904"/>
                    <a:pt x="0" y="4921558"/>
                  </a:cubicBezTo>
                  <a:lnTo>
                    <a:pt x="0" y="23929"/>
                  </a:lnTo>
                  <a:cubicBezTo>
                    <a:pt x="0" y="17583"/>
                    <a:pt x="2521" y="11496"/>
                    <a:pt x="7009" y="7009"/>
                  </a:cubicBezTo>
                  <a:cubicBezTo>
                    <a:pt x="11496" y="2521"/>
                    <a:pt x="17583" y="0"/>
                    <a:pt x="23929" y="0"/>
                  </a:cubicBezTo>
                  <a:close/>
                </a:path>
              </a:pathLst>
            </a:custGeom>
            <a:solidFill>
              <a:srgbClr val="FFFFFF"/>
            </a:solidFill>
            <a:ln w="19050" cap="rnd">
              <a:solidFill>
                <a:srgbClr val="000000"/>
              </a:solidFill>
              <a:prstDash val="solid"/>
              <a:round/>
            </a:ln>
          </p:spPr>
          <p:txBody>
            <a:bodyPr/>
            <a:lstStyle/>
            <a:p>
              <a:endParaRPr lang="fr-FR"/>
            </a:p>
          </p:txBody>
        </p:sp>
        <p:sp>
          <p:nvSpPr>
            <p:cNvPr id="5" name="TextBox 5"/>
            <p:cNvSpPr txBox="1"/>
            <p:nvPr/>
          </p:nvSpPr>
          <p:spPr>
            <a:xfrm>
              <a:off x="0" y="-38100"/>
              <a:ext cx="5832696" cy="498358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5732238" y="792051"/>
            <a:ext cx="946595" cy="94659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fr-FR"/>
            </a:p>
          </p:txBody>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2605539" y="2799779"/>
            <a:ext cx="3732782" cy="5624740"/>
            <a:chOff x="0" y="0"/>
            <a:chExt cx="4977043" cy="7499653"/>
          </a:xfrm>
        </p:grpSpPr>
        <p:sp>
          <p:nvSpPr>
            <p:cNvPr id="10" name="Freeform 10"/>
            <p:cNvSpPr/>
            <p:nvPr/>
          </p:nvSpPr>
          <p:spPr>
            <a:xfrm>
              <a:off x="0" y="1261305"/>
              <a:ext cx="4977043" cy="4977043"/>
            </a:xfrm>
            <a:custGeom>
              <a:avLst/>
              <a:gdLst/>
              <a:ahLst/>
              <a:cxnLst/>
              <a:rect l="l" t="t" r="r" b="b"/>
              <a:pathLst>
                <a:path w="4977043" h="4977043">
                  <a:moveTo>
                    <a:pt x="0" y="0"/>
                  </a:moveTo>
                  <a:lnTo>
                    <a:pt x="4977043" y="0"/>
                  </a:lnTo>
                  <a:lnTo>
                    <a:pt x="4977043" y="4977043"/>
                  </a:lnTo>
                  <a:lnTo>
                    <a:pt x="0" y="4977043"/>
                  </a:lnTo>
                  <a:lnTo>
                    <a:pt x="0" y="0"/>
                  </a:lnTo>
                  <a:close/>
                </a:path>
              </a:pathLst>
            </a:custGeom>
            <a:blipFill>
              <a:blip r:embed="rId3"/>
              <a:stretch>
                <a:fillRect/>
              </a:stretch>
            </a:blipFill>
          </p:spPr>
          <p:txBody>
            <a:bodyPr/>
            <a:lstStyle/>
            <a:p>
              <a:endParaRPr lang="fr-FR"/>
            </a:p>
          </p:txBody>
        </p:sp>
        <p:sp>
          <p:nvSpPr>
            <p:cNvPr id="11" name="Freeform 11"/>
            <p:cNvSpPr/>
            <p:nvPr/>
          </p:nvSpPr>
          <p:spPr>
            <a:xfrm>
              <a:off x="1769231" y="626931"/>
              <a:ext cx="1438581" cy="1555675"/>
            </a:xfrm>
            <a:custGeom>
              <a:avLst/>
              <a:gdLst/>
              <a:ahLst/>
              <a:cxnLst/>
              <a:rect l="l" t="t" r="r" b="b"/>
              <a:pathLst>
                <a:path w="1438581" h="1555675">
                  <a:moveTo>
                    <a:pt x="0" y="0"/>
                  </a:moveTo>
                  <a:lnTo>
                    <a:pt x="1438581" y="0"/>
                  </a:lnTo>
                  <a:lnTo>
                    <a:pt x="1438581" y="1555676"/>
                  </a:lnTo>
                  <a:lnTo>
                    <a:pt x="0" y="1555676"/>
                  </a:lnTo>
                  <a:lnTo>
                    <a:pt x="0" y="0"/>
                  </a:lnTo>
                  <a:close/>
                </a:path>
              </a:pathLst>
            </a:custGeom>
            <a:blipFill>
              <a:blip r:embed="rId4"/>
              <a:stretch>
                <a:fillRect/>
              </a:stretch>
            </a:blipFill>
          </p:spPr>
          <p:txBody>
            <a:bodyPr/>
            <a:lstStyle/>
            <a:p>
              <a:endParaRPr lang="fr-FR"/>
            </a:p>
          </p:txBody>
        </p:sp>
      </p:grpSp>
      <p:sp>
        <p:nvSpPr>
          <p:cNvPr id="12" name="Freeform 12"/>
          <p:cNvSpPr/>
          <p:nvPr/>
        </p:nvSpPr>
        <p:spPr>
          <a:xfrm>
            <a:off x="5965299" y="1028700"/>
            <a:ext cx="499177" cy="499177"/>
          </a:xfrm>
          <a:custGeom>
            <a:avLst/>
            <a:gdLst/>
            <a:ahLst/>
            <a:cxnLst/>
            <a:rect l="l" t="t" r="r" b="b"/>
            <a:pathLst>
              <a:path w="499177" h="499177">
                <a:moveTo>
                  <a:pt x="0" y="0"/>
                </a:moveTo>
                <a:lnTo>
                  <a:pt x="499178" y="0"/>
                </a:lnTo>
                <a:lnTo>
                  <a:pt x="499178" y="499177"/>
                </a:lnTo>
                <a:lnTo>
                  <a:pt x="0" y="49917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3" name="TextBox 13"/>
          <p:cNvSpPr txBox="1"/>
          <p:nvPr/>
        </p:nvSpPr>
        <p:spPr>
          <a:xfrm>
            <a:off x="2171725" y="2325116"/>
            <a:ext cx="8067621" cy="755819"/>
          </a:xfrm>
          <a:prstGeom prst="rect">
            <a:avLst/>
          </a:prstGeom>
        </p:spPr>
        <p:txBody>
          <a:bodyPr lIns="0" tIns="0" rIns="0" bIns="0" rtlCol="0" anchor="t">
            <a:spAutoFit/>
          </a:bodyPr>
          <a:lstStyle/>
          <a:p>
            <a:pPr marL="0" lvl="0" indent="0" algn="l">
              <a:lnSpc>
                <a:spcPts val="6115"/>
              </a:lnSpc>
              <a:spcBef>
                <a:spcPct val="0"/>
              </a:spcBef>
            </a:pPr>
            <a:r>
              <a:rPr lang="en-US" sz="4368" b="1">
                <a:solidFill>
                  <a:srgbClr val="000000"/>
                </a:solidFill>
                <a:latin typeface="Cy Grotesk Key Semi-Bold"/>
                <a:ea typeface="Cy Grotesk Key Semi-Bold"/>
                <a:cs typeface="Cy Grotesk Key Semi-Bold"/>
                <a:sym typeface="Cy Grotesk Key Semi-Bold"/>
              </a:rPr>
              <a:t>PRÉSENTATION DU PROJET</a:t>
            </a:r>
          </a:p>
        </p:txBody>
      </p:sp>
      <p:sp>
        <p:nvSpPr>
          <p:cNvPr id="14" name="TextBox 14"/>
          <p:cNvSpPr txBox="1"/>
          <p:nvPr/>
        </p:nvSpPr>
        <p:spPr>
          <a:xfrm>
            <a:off x="2171725" y="3816264"/>
            <a:ext cx="8067621" cy="339761"/>
          </a:xfrm>
          <a:prstGeom prst="rect">
            <a:avLst/>
          </a:prstGeom>
        </p:spPr>
        <p:txBody>
          <a:bodyPr lIns="0" tIns="0" rIns="0" bIns="0" rtlCol="0" anchor="t">
            <a:spAutoFit/>
          </a:bodyPr>
          <a:lstStyle/>
          <a:p>
            <a:pPr marL="0" lvl="0" indent="0" algn="l">
              <a:lnSpc>
                <a:spcPts val="2798"/>
              </a:lnSpc>
            </a:pPr>
            <a:r>
              <a:rPr lang="en-US" sz="1998" b="1">
                <a:solidFill>
                  <a:srgbClr val="C61800"/>
                </a:solidFill>
                <a:latin typeface="Canva Sans Bold"/>
                <a:ea typeface="Canva Sans Bold"/>
                <a:cs typeface="Canva Sans Bold"/>
                <a:sym typeface="Canva Sans Bold"/>
              </a:rPr>
              <a:t>Un projet numérique citoyen mené à Vigneux-sur-Seine .</a:t>
            </a:r>
          </a:p>
        </p:txBody>
      </p:sp>
      <p:sp>
        <p:nvSpPr>
          <p:cNvPr id="15" name="TextBox 15"/>
          <p:cNvSpPr txBox="1"/>
          <p:nvPr/>
        </p:nvSpPr>
        <p:spPr>
          <a:xfrm>
            <a:off x="2171725" y="4488902"/>
            <a:ext cx="8067621" cy="2642900"/>
          </a:xfrm>
          <a:prstGeom prst="rect">
            <a:avLst/>
          </a:prstGeom>
        </p:spPr>
        <p:txBody>
          <a:bodyPr lIns="0" tIns="0" rIns="0" bIns="0" rtlCol="0" anchor="t">
            <a:spAutoFit/>
          </a:bodyPr>
          <a:lstStyle/>
          <a:p>
            <a:pPr marL="0" lvl="0" indent="0" algn="l">
              <a:lnSpc>
                <a:spcPts val="2378"/>
              </a:lnSpc>
            </a:pPr>
            <a:r>
              <a:rPr lang="en-US" sz="1698">
                <a:solidFill>
                  <a:srgbClr val="000000"/>
                </a:solidFill>
                <a:latin typeface="Canva Sans"/>
                <a:ea typeface="Canva Sans"/>
                <a:cs typeface="Canva Sans"/>
                <a:sym typeface="Canva Sans"/>
              </a:rPr>
              <a:t>Ce projet a été développé dans le cadre d’un projet intergénerationnel avec un objectif ambitieux : utiliser les compétences numériques comme outil d'inclusion, d'éducation et de cohésion sociale.</a:t>
            </a:r>
          </a:p>
          <a:p>
            <a:pPr marL="0" lvl="0" indent="0" algn="l">
              <a:lnSpc>
                <a:spcPts val="2378"/>
              </a:lnSpc>
            </a:pPr>
            <a:r>
              <a:rPr lang="en-US" sz="1698">
                <a:solidFill>
                  <a:srgbClr val="000000"/>
                </a:solidFill>
                <a:latin typeface="Canva Sans"/>
                <a:ea typeface="Canva Sans"/>
                <a:cs typeface="Canva Sans"/>
                <a:sym typeface="Canva Sans"/>
              </a:rPr>
              <a:t>Mené à Vigneux-sur-Seine, en partenariat avec la mairie, des associations locales et des structures pour personnes âgées, ce projet s'inscrit dans une démarche à la fois technique, sociale et citoyenne.</a:t>
            </a:r>
          </a:p>
          <a:p>
            <a:pPr marL="0" lvl="0" indent="0" algn="l">
              <a:lnSpc>
                <a:spcPts val="2378"/>
              </a:lnSpc>
            </a:pPr>
            <a:r>
              <a:rPr lang="en-US" sz="1698">
                <a:solidFill>
                  <a:srgbClr val="000000"/>
                </a:solidFill>
                <a:latin typeface="Canva Sans"/>
                <a:ea typeface="Canva Sans"/>
                <a:cs typeface="Canva Sans"/>
                <a:sym typeface="Canva Sans"/>
              </a:rPr>
              <a:t>L'ambition est de mettre l'informatique au service du territoire et de ses habitants, en créant des ponts entre les générations et en réduisant les inégalités face au numérique.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7688508" y="1179255"/>
            <a:ext cx="9570792" cy="8079045"/>
            <a:chOff x="0" y="0"/>
            <a:chExt cx="5751462" cy="4855013"/>
          </a:xfrm>
        </p:grpSpPr>
        <p:sp>
          <p:nvSpPr>
            <p:cNvPr id="3" name="Freeform 3"/>
            <p:cNvSpPr/>
            <p:nvPr/>
          </p:nvSpPr>
          <p:spPr>
            <a:xfrm>
              <a:off x="0" y="0"/>
              <a:ext cx="5751462" cy="4855013"/>
            </a:xfrm>
            <a:custGeom>
              <a:avLst/>
              <a:gdLst/>
              <a:ahLst/>
              <a:cxnLst/>
              <a:rect l="l" t="t" r="r" b="b"/>
              <a:pathLst>
                <a:path w="5751462" h="4855013">
                  <a:moveTo>
                    <a:pt x="24267" y="0"/>
                  </a:moveTo>
                  <a:lnTo>
                    <a:pt x="5727195" y="0"/>
                  </a:lnTo>
                  <a:cubicBezTo>
                    <a:pt x="5740597" y="0"/>
                    <a:pt x="5751462" y="10865"/>
                    <a:pt x="5751462" y="24267"/>
                  </a:cubicBezTo>
                  <a:lnTo>
                    <a:pt x="5751462" y="4830745"/>
                  </a:lnTo>
                  <a:cubicBezTo>
                    <a:pt x="5751462" y="4837181"/>
                    <a:pt x="5748905" y="4843354"/>
                    <a:pt x="5744354" y="4847905"/>
                  </a:cubicBezTo>
                  <a:cubicBezTo>
                    <a:pt x="5739804" y="4852456"/>
                    <a:pt x="5733631" y="4855013"/>
                    <a:pt x="5727195" y="4855013"/>
                  </a:cubicBezTo>
                  <a:lnTo>
                    <a:pt x="24267" y="4855013"/>
                  </a:lnTo>
                  <a:cubicBezTo>
                    <a:pt x="17831" y="4855013"/>
                    <a:pt x="11659" y="4852456"/>
                    <a:pt x="7108" y="4847905"/>
                  </a:cubicBezTo>
                  <a:cubicBezTo>
                    <a:pt x="2557" y="4843354"/>
                    <a:pt x="0" y="4837181"/>
                    <a:pt x="0" y="4830745"/>
                  </a:cubicBezTo>
                  <a:lnTo>
                    <a:pt x="0" y="24267"/>
                  </a:lnTo>
                  <a:cubicBezTo>
                    <a:pt x="0" y="17831"/>
                    <a:pt x="2557" y="11659"/>
                    <a:pt x="7108" y="7108"/>
                  </a:cubicBezTo>
                  <a:cubicBezTo>
                    <a:pt x="11659" y="2557"/>
                    <a:pt x="17831" y="0"/>
                    <a:pt x="24267"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5751462" cy="489311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746881" y="665485"/>
            <a:ext cx="985100" cy="922300"/>
          </a:xfrm>
          <a:custGeom>
            <a:avLst/>
            <a:gdLst/>
            <a:ahLst/>
            <a:cxnLst/>
            <a:rect l="l" t="t" r="r" b="b"/>
            <a:pathLst>
              <a:path w="985100" h="922300">
                <a:moveTo>
                  <a:pt x="0" y="0"/>
                </a:moveTo>
                <a:lnTo>
                  <a:pt x="985100" y="0"/>
                </a:lnTo>
                <a:lnTo>
                  <a:pt x="985100" y="922300"/>
                </a:lnTo>
                <a:lnTo>
                  <a:pt x="0" y="9223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6" name="Freeform 6"/>
          <p:cNvSpPr/>
          <p:nvPr/>
        </p:nvSpPr>
        <p:spPr>
          <a:xfrm rot="-4099858">
            <a:off x="5838750" y="1184481"/>
            <a:ext cx="2331372" cy="1789328"/>
          </a:xfrm>
          <a:custGeom>
            <a:avLst/>
            <a:gdLst/>
            <a:ahLst/>
            <a:cxnLst/>
            <a:rect l="l" t="t" r="r" b="b"/>
            <a:pathLst>
              <a:path w="2331372" h="1789328">
                <a:moveTo>
                  <a:pt x="0" y="0"/>
                </a:moveTo>
                <a:lnTo>
                  <a:pt x="2331372" y="0"/>
                </a:lnTo>
                <a:lnTo>
                  <a:pt x="2331372" y="1789328"/>
                </a:lnTo>
                <a:lnTo>
                  <a:pt x="0" y="17893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7" name="Freeform 7"/>
          <p:cNvSpPr/>
          <p:nvPr/>
        </p:nvSpPr>
        <p:spPr>
          <a:xfrm>
            <a:off x="1825286" y="2686657"/>
            <a:ext cx="4729489" cy="5669689"/>
          </a:xfrm>
          <a:custGeom>
            <a:avLst/>
            <a:gdLst/>
            <a:ahLst/>
            <a:cxnLst/>
            <a:rect l="l" t="t" r="r" b="b"/>
            <a:pathLst>
              <a:path w="4729489" h="5669689">
                <a:moveTo>
                  <a:pt x="0" y="0"/>
                </a:moveTo>
                <a:lnTo>
                  <a:pt x="4729490" y="0"/>
                </a:lnTo>
                <a:lnTo>
                  <a:pt x="4729490" y="5669689"/>
                </a:lnTo>
                <a:lnTo>
                  <a:pt x="0" y="5669689"/>
                </a:lnTo>
                <a:lnTo>
                  <a:pt x="0" y="0"/>
                </a:lnTo>
                <a:close/>
              </a:path>
            </a:pathLst>
          </a:custGeom>
          <a:blipFill>
            <a:blip r:embed="rId4"/>
            <a:stretch>
              <a:fillRect/>
            </a:stretch>
          </a:blipFill>
        </p:spPr>
        <p:txBody>
          <a:bodyPr/>
          <a:lstStyle/>
          <a:p>
            <a:endParaRPr lang="fr-FR"/>
          </a:p>
        </p:txBody>
      </p:sp>
      <p:sp>
        <p:nvSpPr>
          <p:cNvPr id="8" name="Freeform 8"/>
          <p:cNvSpPr/>
          <p:nvPr/>
        </p:nvSpPr>
        <p:spPr>
          <a:xfrm>
            <a:off x="8440688" y="8201450"/>
            <a:ext cx="299365" cy="158663"/>
          </a:xfrm>
          <a:custGeom>
            <a:avLst/>
            <a:gdLst/>
            <a:ahLst/>
            <a:cxnLst/>
            <a:rect l="l" t="t" r="r" b="b"/>
            <a:pathLst>
              <a:path w="299365" h="158663">
                <a:moveTo>
                  <a:pt x="0" y="0"/>
                </a:moveTo>
                <a:lnTo>
                  <a:pt x="299364" y="0"/>
                </a:lnTo>
                <a:lnTo>
                  <a:pt x="299364" y="158663"/>
                </a:lnTo>
                <a:lnTo>
                  <a:pt x="0" y="1586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FR"/>
          </a:p>
        </p:txBody>
      </p:sp>
      <p:sp>
        <p:nvSpPr>
          <p:cNvPr id="9" name="TextBox 9"/>
          <p:cNvSpPr txBox="1"/>
          <p:nvPr/>
        </p:nvSpPr>
        <p:spPr>
          <a:xfrm>
            <a:off x="8440688" y="3986955"/>
            <a:ext cx="8066432" cy="2938175"/>
          </a:xfrm>
          <a:prstGeom prst="rect">
            <a:avLst/>
          </a:prstGeom>
        </p:spPr>
        <p:txBody>
          <a:bodyPr lIns="0" tIns="0" rIns="0" bIns="0" rtlCol="0" anchor="t">
            <a:spAutoFit/>
          </a:bodyPr>
          <a:lstStyle/>
          <a:p>
            <a:pPr marL="0" lvl="0" indent="0" algn="l">
              <a:lnSpc>
                <a:spcPts val="2378"/>
              </a:lnSpc>
            </a:pPr>
            <a:r>
              <a:rPr lang="en-US" sz="1698">
                <a:solidFill>
                  <a:srgbClr val="000000"/>
                </a:solidFill>
                <a:latin typeface="Canva Sans"/>
                <a:ea typeface="Canva Sans"/>
                <a:cs typeface="Canva Sans"/>
                <a:sym typeface="Canva Sans"/>
              </a:rPr>
              <a:t>Je suis technicien réseau au sein du service informatique de l'Institut du Monde Arabe, où j'ai développé des compétences solides en installation, configuration et maintenance de systèmes informatiques.</a:t>
            </a:r>
          </a:p>
          <a:p>
            <a:pPr marL="0" lvl="0" indent="0" algn="l">
              <a:lnSpc>
                <a:spcPts val="2378"/>
              </a:lnSpc>
            </a:pPr>
            <a:r>
              <a:rPr lang="en-US" sz="1698">
                <a:solidFill>
                  <a:srgbClr val="000000"/>
                </a:solidFill>
                <a:latin typeface="Canva Sans"/>
                <a:ea typeface="Canva Sans"/>
                <a:cs typeface="Canva Sans"/>
                <a:sym typeface="Canva Sans"/>
              </a:rPr>
              <a:t>Parallèlement à mon parcours professionnel, j'ai cofondé une association locale avec des amis partageant les mêmes valeurs. Notre objectif : développer des actions citoyennes et éducatives au service de notre territoire.</a:t>
            </a:r>
          </a:p>
          <a:p>
            <a:pPr marL="0" lvl="0" indent="0" algn="l">
              <a:lnSpc>
                <a:spcPts val="2378"/>
              </a:lnSpc>
            </a:pPr>
            <a:r>
              <a:rPr lang="en-US" sz="1698">
                <a:solidFill>
                  <a:srgbClr val="000000"/>
                </a:solidFill>
                <a:latin typeface="Canva Sans"/>
                <a:ea typeface="Canva Sans"/>
                <a:cs typeface="Canva Sans"/>
                <a:sym typeface="Canva Sans"/>
              </a:rPr>
              <a:t>Cette double casquette me permet de mettre mes compétences techniques au service des habitants de Vigneux-sur-Seine, en créant des ponts entre le monde professionnel et l'engagement associatif.</a:t>
            </a:r>
          </a:p>
        </p:txBody>
      </p:sp>
      <p:sp>
        <p:nvSpPr>
          <p:cNvPr id="10" name="TextBox 10"/>
          <p:cNvSpPr txBox="1"/>
          <p:nvPr/>
        </p:nvSpPr>
        <p:spPr>
          <a:xfrm>
            <a:off x="8967407" y="8118504"/>
            <a:ext cx="7539713" cy="585500"/>
          </a:xfrm>
          <a:prstGeom prst="rect">
            <a:avLst/>
          </a:prstGeom>
        </p:spPr>
        <p:txBody>
          <a:bodyPr lIns="0" tIns="0" rIns="0" bIns="0" rtlCol="0" anchor="t">
            <a:spAutoFit/>
          </a:bodyPr>
          <a:lstStyle/>
          <a:p>
            <a:pPr marL="0" lvl="0" indent="0" algn="l">
              <a:lnSpc>
                <a:spcPts val="2378"/>
              </a:lnSpc>
            </a:pPr>
            <a:r>
              <a:rPr lang="en-US" sz="1698" b="1">
                <a:solidFill>
                  <a:srgbClr val="000000"/>
                </a:solidFill>
                <a:latin typeface="Cy Grotesk Key Bold"/>
                <a:ea typeface="Cy Grotesk Key Bold"/>
                <a:cs typeface="Cy Grotesk Key Bold"/>
                <a:sym typeface="Cy Grotesk Key Bold"/>
              </a:rPr>
              <a:t>Mettre mes compétences professionnelles au service du territoire et de ses habitants.</a:t>
            </a:r>
          </a:p>
        </p:txBody>
      </p:sp>
      <p:sp>
        <p:nvSpPr>
          <p:cNvPr id="11" name="TextBox 11"/>
          <p:cNvSpPr txBox="1"/>
          <p:nvPr/>
        </p:nvSpPr>
        <p:spPr>
          <a:xfrm>
            <a:off x="8440688" y="1865441"/>
            <a:ext cx="8066432" cy="863689"/>
          </a:xfrm>
          <a:prstGeom prst="rect">
            <a:avLst/>
          </a:prstGeom>
        </p:spPr>
        <p:txBody>
          <a:bodyPr lIns="0" tIns="0" rIns="0" bIns="0" rtlCol="0" anchor="t">
            <a:spAutoFit/>
          </a:bodyPr>
          <a:lstStyle/>
          <a:p>
            <a:pPr marL="0" lvl="0" indent="0" algn="l">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MON PARCOURS</a:t>
            </a:r>
          </a:p>
        </p:txBody>
      </p:sp>
      <p:sp>
        <p:nvSpPr>
          <p:cNvPr id="12" name="TextBox 12"/>
          <p:cNvSpPr txBox="1"/>
          <p:nvPr/>
        </p:nvSpPr>
        <p:spPr>
          <a:xfrm>
            <a:off x="8526413" y="3072898"/>
            <a:ext cx="5229420" cy="389602"/>
          </a:xfrm>
          <a:prstGeom prst="rect">
            <a:avLst/>
          </a:prstGeom>
        </p:spPr>
        <p:txBody>
          <a:bodyPr lIns="0" tIns="0" rIns="0" bIns="0" rtlCol="0" anchor="t">
            <a:spAutoFit/>
          </a:bodyPr>
          <a:lstStyle/>
          <a:p>
            <a:pPr marL="0" lvl="0" indent="0" algn="just">
              <a:lnSpc>
                <a:spcPts val="3200"/>
              </a:lnSpc>
            </a:pPr>
            <a:r>
              <a:rPr lang="en-US" sz="2286" b="1" i="1">
                <a:solidFill>
                  <a:srgbClr val="FFFFFF"/>
                </a:solidFill>
                <a:latin typeface="Canva Sans Medium Italics"/>
                <a:ea typeface="Canva Sans Medium Italics"/>
                <a:cs typeface="Canva Sans Medium Italics"/>
                <a:sym typeface="Canva Sans Medium Italics"/>
              </a:rPr>
              <a:t>Un engagement technique et citoyen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94404" y="1028700"/>
            <a:ext cx="4112054" cy="2500419"/>
            <a:chOff x="0" y="0"/>
            <a:chExt cx="3210981" cy="1952504"/>
          </a:xfrm>
        </p:grpSpPr>
        <p:sp>
          <p:nvSpPr>
            <p:cNvPr id="3" name="Freeform 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47625" cap="rnd">
              <a:solidFill>
                <a:srgbClr val="000000"/>
              </a:solidFill>
              <a:prstDash val="solid"/>
              <a:round/>
            </a:ln>
          </p:spPr>
          <p:txBody>
            <a:bodyPr/>
            <a:lstStyle/>
            <a:p>
              <a:endParaRPr lang="fr-FR"/>
            </a:p>
          </p:txBody>
        </p:sp>
        <p:sp>
          <p:nvSpPr>
            <p:cNvPr id="4" name="TextBox 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394404" y="3893290"/>
            <a:ext cx="4112054" cy="2500419"/>
            <a:chOff x="0" y="0"/>
            <a:chExt cx="3210981" cy="1952504"/>
          </a:xfrm>
        </p:grpSpPr>
        <p:sp>
          <p:nvSpPr>
            <p:cNvPr id="6" name="Freeform 6"/>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7" name="TextBox 7"/>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394404" y="6757881"/>
            <a:ext cx="4112054" cy="2500419"/>
            <a:chOff x="0" y="0"/>
            <a:chExt cx="3210981" cy="1952504"/>
          </a:xfrm>
        </p:grpSpPr>
        <p:sp>
          <p:nvSpPr>
            <p:cNvPr id="9" name="Freeform 9"/>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10" name="TextBox 10"/>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1915239" y="1575212"/>
            <a:ext cx="3070384" cy="1331264"/>
          </a:xfrm>
          <a:prstGeom prst="rect">
            <a:avLst/>
          </a:prstGeom>
        </p:spPr>
        <p:txBody>
          <a:bodyPr lIns="0" tIns="0" rIns="0" bIns="0" rtlCol="0" anchor="t">
            <a:spAutoFit/>
          </a:bodyPr>
          <a:lstStyle/>
          <a:p>
            <a:pPr marL="0" lvl="0" indent="0" algn="ctr">
              <a:lnSpc>
                <a:spcPts val="5373"/>
              </a:lnSpc>
            </a:pPr>
            <a:r>
              <a:rPr lang="en-US" sz="3838" dirty="0" err="1">
                <a:solidFill>
                  <a:srgbClr val="000000"/>
                </a:solidFill>
                <a:latin typeface="Cy Grotesk Key"/>
                <a:ea typeface="Cy Grotesk Key"/>
                <a:cs typeface="Cy Grotesk Key"/>
                <a:sym typeface="Cy Grotesk Key"/>
              </a:rPr>
              <a:t>Partenaire</a:t>
            </a:r>
            <a:endParaRPr lang="en-US" sz="3838" dirty="0">
              <a:solidFill>
                <a:srgbClr val="000000"/>
              </a:solidFill>
              <a:latin typeface="Cy Grotesk Key"/>
              <a:ea typeface="Cy Grotesk Key"/>
              <a:cs typeface="Cy Grotesk Key"/>
              <a:sym typeface="Cy Grotesk Key"/>
            </a:endParaRPr>
          </a:p>
          <a:p>
            <a:pPr marL="0" lvl="0" indent="0" algn="ctr">
              <a:lnSpc>
                <a:spcPts val="5373"/>
              </a:lnSpc>
            </a:pPr>
            <a:r>
              <a:rPr lang="en-US" sz="3838" dirty="0">
                <a:solidFill>
                  <a:srgbClr val="000000"/>
                </a:solidFill>
                <a:latin typeface="Cy Grotesk Key"/>
                <a:ea typeface="Cy Grotesk Key"/>
                <a:cs typeface="Cy Grotesk Key"/>
                <a:sym typeface="Cy Grotesk Key"/>
              </a:rPr>
              <a:t>1</a:t>
            </a:r>
          </a:p>
        </p:txBody>
      </p:sp>
      <p:sp>
        <p:nvSpPr>
          <p:cNvPr id="12" name="TextBox 12"/>
          <p:cNvSpPr txBox="1"/>
          <p:nvPr/>
        </p:nvSpPr>
        <p:spPr>
          <a:xfrm>
            <a:off x="1915239" y="4439803"/>
            <a:ext cx="3070384" cy="1331264"/>
          </a:xfrm>
          <a:prstGeom prst="rect">
            <a:avLst/>
          </a:prstGeom>
        </p:spPr>
        <p:txBody>
          <a:bodyPr lIns="0" tIns="0" rIns="0" bIns="0" rtlCol="0" anchor="t">
            <a:spAutoFit/>
          </a:bodyPr>
          <a:lstStyle/>
          <a:p>
            <a:pPr marL="0" lvl="0" indent="0" algn="ctr">
              <a:lnSpc>
                <a:spcPts val="5373"/>
              </a:lnSpc>
            </a:pPr>
            <a:r>
              <a:rPr lang="en-US" sz="3838">
                <a:solidFill>
                  <a:srgbClr val="000000"/>
                </a:solidFill>
                <a:latin typeface="Cy Grotesk Key"/>
                <a:ea typeface="Cy Grotesk Key"/>
                <a:cs typeface="Cy Grotesk Key"/>
                <a:sym typeface="Cy Grotesk Key"/>
              </a:rPr>
              <a:t>Partenaire</a:t>
            </a:r>
          </a:p>
          <a:p>
            <a:pPr marL="0" lvl="0" indent="0" algn="ctr">
              <a:lnSpc>
                <a:spcPts val="5373"/>
              </a:lnSpc>
            </a:pPr>
            <a:r>
              <a:rPr lang="en-US" sz="3838">
                <a:solidFill>
                  <a:srgbClr val="000000"/>
                </a:solidFill>
                <a:latin typeface="Cy Grotesk Key"/>
                <a:ea typeface="Cy Grotesk Key"/>
                <a:cs typeface="Cy Grotesk Key"/>
                <a:sym typeface="Cy Grotesk Key"/>
              </a:rPr>
              <a:t>2</a:t>
            </a:r>
          </a:p>
        </p:txBody>
      </p:sp>
      <p:sp>
        <p:nvSpPr>
          <p:cNvPr id="13" name="TextBox 13"/>
          <p:cNvSpPr txBox="1"/>
          <p:nvPr/>
        </p:nvSpPr>
        <p:spPr>
          <a:xfrm>
            <a:off x="1915239" y="7304393"/>
            <a:ext cx="3070384" cy="1331264"/>
          </a:xfrm>
          <a:prstGeom prst="rect">
            <a:avLst/>
          </a:prstGeom>
        </p:spPr>
        <p:txBody>
          <a:bodyPr lIns="0" tIns="0" rIns="0" bIns="0" rtlCol="0" anchor="t">
            <a:spAutoFit/>
          </a:bodyPr>
          <a:lstStyle/>
          <a:p>
            <a:pPr marL="0" lvl="0" indent="0" algn="ctr">
              <a:lnSpc>
                <a:spcPts val="5373"/>
              </a:lnSpc>
            </a:pPr>
            <a:r>
              <a:rPr lang="en-US" sz="3838">
                <a:solidFill>
                  <a:srgbClr val="000000"/>
                </a:solidFill>
                <a:latin typeface="Cy Grotesk Key"/>
                <a:ea typeface="Cy Grotesk Key"/>
                <a:cs typeface="Cy Grotesk Key"/>
                <a:sym typeface="Cy Grotesk Key"/>
              </a:rPr>
              <a:t>Partenaire</a:t>
            </a:r>
          </a:p>
          <a:p>
            <a:pPr marL="0" lvl="0" indent="0" algn="ctr">
              <a:lnSpc>
                <a:spcPts val="5373"/>
              </a:lnSpc>
            </a:pPr>
            <a:r>
              <a:rPr lang="en-US" sz="3838">
                <a:solidFill>
                  <a:srgbClr val="000000"/>
                </a:solidFill>
                <a:latin typeface="Cy Grotesk Key"/>
                <a:ea typeface="Cy Grotesk Key"/>
                <a:cs typeface="Cy Grotesk Key"/>
                <a:sym typeface="Cy Grotesk Key"/>
              </a:rPr>
              <a:t>3</a:t>
            </a:r>
          </a:p>
        </p:txBody>
      </p:sp>
      <p:grpSp>
        <p:nvGrpSpPr>
          <p:cNvPr id="14" name="Group 14"/>
          <p:cNvGrpSpPr/>
          <p:nvPr/>
        </p:nvGrpSpPr>
        <p:grpSpPr>
          <a:xfrm>
            <a:off x="6435373" y="4283455"/>
            <a:ext cx="10458223" cy="4974845"/>
            <a:chOff x="0" y="0"/>
            <a:chExt cx="8166518" cy="3884709"/>
          </a:xfrm>
        </p:grpSpPr>
        <p:sp>
          <p:nvSpPr>
            <p:cNvPr id="15" name="Freeform 15"/>
            <p:cNvSpPr/>
            <p:nvPr/>
          </p:nvSpPr>
          <p:spPr>
            <a:xfrm>
              <a:off x="0" y="0"/>
              <a:ext cx="8166518" cy="3884709"/>
            </a:xfrm>
            <a:custGeom>
              <a:avLst/>
              <a:gdLst/>
              <a:ahLst/>
              <a:cxnLst/>
              <a:rect l="l" t="t" r="r" b="b"/>
              <a:pathLst>
                <a:path w="8166518" h="3884709">
                  <a:moveTo>
                    <a:pt x="22208" y="0"/>
                  </a:moveTo>
                  <a:lnTo>
                    <a:pt x="8144310" y="0"/>
                  </a:lnTo>
                  <a:cubicBezTo>
                    <a:pt x="8156575" y="0"/>
                    <a:pt x="8166518" y="9943"/>
                    <a:pt x="8166518" y="22208"/>
                  </a:cubicBezTo>
                  <a:lnTo>
                    <a:pt x="8166518" y="3862501"/>
                  </a:lnTo>
                  <a:cubicBezTo>
                    <a:pt x="8166518" y="3874767"/>
                    <a:pt x="8156575" y="3884709"/>
                    <a:pt x="8144310" y="3884709"/>
                  </a:cubicBezTo>
                  <a:lnTo>
                    <a:pt x="22208" y="3884709"/>
                  </a:lnTo>
                  <a:cubicBezTo>
                    <a:pt x="9943" y="3884709"/>
                    <a:pt x="0" y="3874767"/>
                    <a:pt x="0" y="3862501"/>
                  </a:cubicBezTo>
                  <a:lnTo>
                    <a:pt x="0" y="22208"/>
                  </a:lnTo>
                  <a:cubicBezTo>
                    <a:pt x="0" y="9943"/>
                    <a:pt x="9943" y="0"/>
                    <a:pt x="22208" y="0"/>
                  </a:cubicBezTo>
                  <a:close/>
                </a:path>
              </a:pathLst>
            </a:custGeom>
            <a:solidFill>
              <a:srgbClr val="FFFFFF"/>
            </a:solidFill>
            <a:ln w="19050" cap="rnd">
              <a:solidFill>
                <a:srgbClr val="000000"/>
              </a:solidFill>
              <a:prstDash val="solid"/>
              <a:round/>
            </a:ln>
          </p:spPr>
          <p:txBody>
            <a:bodyPr/>
            <a:lstStyle/>
            <a:p>
              <a:endParaRPr lang="fr-FR"/>
            </a:p>
          </p:txBody>
        </p:sp>
        <p:sp>
          <p:nvSpPr>
            <p:cNvPr id="16" name="TextBox 16"/>
            <p:cNvSpPr txBox="1"/>
            <p:nvPr/>
          </p:nvSpPr>
          <p:spPr>
            <a:xfrm>
              <a:off x="0" y="-38100"/>
              <a:ext cx="8166518" cy="392280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7168527" y="6365135"/>
            <a:ext cx="8991915" cy="1461800"/>
          </a:xfrm>
          <a:prstGeom prst="rect">
            <a:avLst/>
          </a:prstGeom>
        </p:spPr>
        <p:txBody>
          <a:bodyPr lIns="0" tIns="0" rIns="0" bIns="0" rtlCol="0" anchor="t">
            <a:spAutoFit/>
          </a:bodyPr>
          <a:lstStyle/>
          <a:p>
            <a:pPr marL="0" lvl="0" indent="0" algn="l">
              <a:lnSpc>
                <a:spcPts val="2378"/>
              </a:lnSpc>
            </a:pPr>
            <a:r>
              <a:rPr lang="en-US" sz="1698">
                <a:solidFill>
                  <a:srgbClr val="000000"/>
                </a:solidFill>
                <a:latin typeface="Canva Sans"/>
                <a:ea typeface="Canva Sans"/>
                <a:cs typeface="Canva Sans"/>
                <a:sym typeface="Canva Sans"/>
              </a:rPr>
              <a:t>Associations locales et jeunes : Mobilisation des jeunes issus des associations partenaires pour animer les ateliers numériques et transmettre leurs compétences.</a:t>
            </a:r>
          </a:p>
          <a:p>
            <a:pPr marL="0" lvl="0" indent="0" algn="l">
              <a:lnSpc>
                <a:spcPts val="2378"/>
              </a:lnSpc>
            </a:pPr>
            <a:r>
              <a:rPr lang="en-US" sz="1698">
                <a:solidFill>
                  <a:srgbClr val="000000"/>
                </a:solidFill>
                <a:latin typeface="Canva Sans"/>
                <a:ea typeface="Canva Sans"/>
                <a:cs typeface="Canva Sans"/>
                <a:sym typeface="Canva Sans"/>
              </a:rPr>
              <a:t>Résidences pour personnes âgées et Institut du Monde Arabe : Accueil des ateliers dans les structures seniors et don de matériel informatique par l'IMA lors du renouvellement de son parc.</a:t>
            </a:r>
          </a:p>
        </p:txBody>
      </p:sp>
      <p:sp>
        <p:nvSpPr>
          <p:cNvPr id="18" name="TextBox 18"/>
          <p:cNvSpPr txBox="1"/>
          <p:nvPr/>
        </p:nvSpPr>
        <p:spPr>
          <a:xfrm>
            <a:off x="7168527" y="4751548"/>
            <a:ext cx="8991915" cy="1234483"/>
          </a:xfrm>
          <a:prstGeom prst="rect">
            <a:avLst/>
          </a:prstGeom>
        </p:spPr>
        <p:txBody>
          <a:bodyPr lIns="0" tIns="0" rIns="0" bIns="0" rtlCol="0" anchor="t">
            <a:spAutoFit/>
          </a:bodyPr>
          <a:lstStyle/>
          <a:p>
            <a:pPr marL="0" lvl="0" indent="0" algn="l">
              <a:lnSpc>
                <a:spcPts val="3357"/>
              </a:lnSpc>
            </a:pPr>
            <a:r>
              <a:rPr lang="en-US" sz="2398" b="1">
                <a:solidFill>
                  <a:srgbClr val="C61800"/>
                </a:solidFill>
                <a:latin typeface="Canva Sans Bold"/>
                <a:ea typeface="Canva Sans Bold"/>
                <a:cs typeface="Canva Sans Bold"/>
                <a:sym typeface="Canva Sans Bold"/>
              </a:rPr>
              <a:t>Mairie de Vigneux-sur-Seine : Soutien institutionnel et logistique pour le déploiement du projet sur le territoire communal.</a:t>
            </a:r>
          </a:p>
        </p:txBody>
      </p:sp>
      <p:sp>
        <p:nvSpPr>
          <p:cNvPr id="19" name="Freeform 19"/>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20" name="TextBox 20"/>
          <p:cNvSpPr txBox="1"/>
          <p:nvPr/>
        </p:nvSpPr>
        <p:spPr>
          <a:xfrm>
            <a:off x="6882681" y="1979307"/>
            <a:ext cx="9563606" cy="1749514"/>
          </a:xfrm>
          <a:prstGeom prst="rect">
            <a:avLst/>
          </a:prstGeom>
        </p:spPr>
        <p:txBody>
          <a:bodyPr lIns="0" tIns="0" rIns="0" bIns="0" rtlCol="0" anchor="t">
            <a:spAutoFit/>
          </a:bodyPr>
          <a:lstStyle/>
          <a:p>
            <a:pPr marL="0" lvl="0" indent="0" algn="ctr">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LES PARTENAIRES DU PROJET</a:t>
            </a:r>
          </a:p>
        </p:txBody>
      </p:sp>
      <p:sp>
        <p:nvSpPr>
          <p:cNvPr id="21" name="TextBox 21"/>
          <p:cNvSpPr txBox="1"/>
          <p:nvPr/>
        </p:nvSpPr>
        <p:spPr>
          <a:xfrm>
            <a:off x="6882681" y="1346212"/>
            <a:ext cx="9563606" cy="547427"/>
          </a:xfrm>
          <a:prstGeom prst="rect">
            <a:avLst/>
          </a:prstGeom>
        </p:spPr>
        <p:txBody>
          <a:bodyPr lIns="0" tIns="0" rIns="0" bIns="0" rtlCol="0" anchor="t">
            <a:spAutoFit/>
          </a:bodyPr>
          <a:lstStyle/>
          <a:p>
            <a:pPr marL="690395" lvl="1" indent="-345197" algn="ctr">
              <a:lnSpc>
                <a:spcPts val="4476"/>
              </a:lnSpc>
              <a:spcBef>
                <a:spcPct val="0"/>
              </a:spcBef>
              <a:buFont typeface="Arial"/>
              <a:buChar char="•"/>
            </a:pPr>
            <a:r>
              <a:rPr lang="en-US" sz="3197" b="1">
                <a:solidFill>
                  <a:srgbClr val="C61800"/>
                </a:solidFill>
                <a:latin typeface="Cy Grotesk Key Semi-Bold"/>
                <a:ea typeface="Cy Grotesk Key Semi-Bold"/>
                <a:cs typeface="Cy Grotesk Key Semi-Bold"/>
                <a:sym typeface="Cy Grotesk Key Semi-Bold"/>
              </a:rPr>
              <a:t>SLIDE 4 -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94404" y="1028700"/>
            <a:ext cx="4112054" cy="2500419"/>
            <a:chOff x="0" y="0"/>
            <a:chExt cx="3210981" cy="1952504"/>
          </a:xfrm>
        </p:grpSpPr>
        <p:sp>
          <p:nvSpPr>
            <p:cNvPr id="3" name="Freeform 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394404" y="3893290"/>
            <a:ext cx="4112054" cy="2500419"/>
            <a:chOff x="0" y="0"/>
            <a:chExt cx="3210981" cy="1952504"/>
          </a:xfrm>
        </p:grpSpPr>
        <p:sp>
          <p:nvSpPr>
            <p:cNvPr id="6" name="Freeform 6"/>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000000"/>
            </a:solidFill>
            <a:ln w="19050" cap="rnd">
              <a:solidFill>
                <a:srgbClr val="000000"/>
              </a:solidFill>
              <a:prstDash val="solid"/>
              <a:round/>
            </a:ln>
          </p:spPr>
          <p:txBody>
            <a:bodyPr/>
            <a:lstStyle/>
            <a:p>
              <a:endParaRPr lang="fr-FR"/>
            </a:p>
          </p:txBody>
        </p:sp>
        <p:sp>
          <p:nvSpPr>
            <p:cNvPr id="7" name="TextBox 7"/>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6435373" y="4283455"/>
            <a:ext cx="10458223" cy="4974845"/>
            <a:chOff x="0" y="0"/>
            <a:chExt cx="8166518" cy="3884709"/>
          </a:xfrm>
        </p:grpSpPr>
        <p:sp>
          <p:nvSpPr>
            <p:cNvPr id="9" name="Freeform 9"/>
            <p:cNvSpPr/>
            <p:nvPr/>
          </p:nvSpPr>
          <p:spPr>
            <a:xfrm>
              <a:off x="0" y="0"/>
              <a:ext cx="8166518" cy="3884709"/>
            </a:xfrm>
            <a:custGeom>
              <a:avLst/>
              <a:gdLst/>
              <a:ahLst/>
              <a:cxnLst/>
              <a:rect l="l" t="t" r="r" b="b"/>
              <a:pathLst>
                <a:path w="8166518" h="3884709">
                  <a:moveTo>
                    <a:pt x="22208" y="0"/>
                  </a:moveTo>
                  <a:lnTo>
                    <a:pt x="8144310" y="0"/>
                  </a:lnTo>
                  <a:cubicBezTo>
                    <a:pt x="8156575" y="0"/>
                    <a:pt x="8166518" y="9943"/>
                    <a:pt x="8166518" y="22208"/>
                  </a:cubicBezTo>
                  <a:lnTo>
                    <a:pt x="8166518" y="3862501"/>
                  </a:lnTo>
                  <a:cubicBezTo>
                    <a:pt x="8166518" y="3874767"/>
                    <a:pt x="8156575" y="3884709"/>
                    <a:pt x="8144310" y="3884709"/>
                  </a:cubicBezTo>
                  <a:lnTo>
                    <a:pt x="22208" y="3884709"/>
                  </a:lnTo>
                  <a:cubicBezTo>
                    <a:pt x="9943" y="3884709"/>
                    <a:pt x="0" y="3874767"/>
                    <a:pt x="0" y="3862501"/>
                  </a:cubicBezTo>
                  <a:lnTo>
                    <a:pt x="0" y="22208"/>
                  </a:lnTo>
                  <a:cubicBezTo>
                    <a:pt x="0" y="9943"/>
                    <a:pt x="9943" y="0"/>
                    <a:pt x="22208" y="0"/>
                  </a:cubicBezTo>
                  <a:close/>
                </a:path>
              </a:pathLst>
            </a:custGeom>
            <a:solidFill>
              <a:srgbClr val="FFFFFF"/>
            </a:solidFill>
            <a:ln w="19050" cap="rnd">
              <a:solidFill>
                <a:srgbClr val="000000"/>
              </a:solidFill>
              <a:prstDash val="solid"/>
              <a:round/>
            </a:ln>
          </p:spPr>
          <p:txBody>
            <a:bodyPr/>
            <a:lstStyle/>
            <a:p>
              <a:endParaRPr lang="fr-FR"/>
            </a:p>
          </p:txBody>
        </p:sp>
        <p:sp>
          <p:nvSpPr>
            <p:cNvPr id="10" name="TextBox 10"/>
            <p:cNvSpPr txBox="1"/>
            <p:nvPr/>
          </p:nvSpPr>
          <p:spPr>
            <a:xfrm>
              <a:off x="0" y="-38100"/>
              <a:ext cx="8166518" cy="392280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1394404" y="6757881"/>
            <a:ext cx="4112054" cy="2500419"/>
            <a:chOff x="0" y="0"/>
            <a:chExt cx="3210981" cy="1952504"/>
          </a:xfrm>
        </p:grpSpPr>
        <p:sp>
          <p:nvSpPr>
            <p:cNvPr id="12" name="Freeform 12"/>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13" name="TextBox 13"/>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1915239" y="1575212"/>
            <a:ext cx="3070384" cy="1331264"/>
          </a:xfrm>
          <a:prstGeom prst="rect">
            <a:avLst/>
          </a:prstGeom>
        </p:spPr>
        <p:txBody>
          <a:bodyPr lIns="0" tIns="0" rIns="0" bIns="0" rtlCol="0" anchor="t">
            <a:spAutoFit/>
          </a:bodyPr>
          <a:lstStyle/>
          <a:p>
            <a:pPr marL="0" lvl="0" indent="0" algn="ctr">
              <a:lnSpc>
                <a:spcPts val="5373"/>
              </a:lnSpc>
            </a:pPr>
            <a:r>
              <a:rPr lang="en-US" sz="3838">
                <a:solidFill>
                  <a:srgbClr val="000000"/>
                </a:solidFill>
                <a:latin typeface="Cy Grotesk Key"/>
                <a:ea typeface="Cy Grotesk Key"/>
                <a:cs typeface="Cy Grotesk Key"/>
                <a:sym typeface="Cy Grotesk Key"/>
              </a:rPr>
              <a:t>Fracture</a:t>
            </a:r>
          </a:p>
          <a:p>
            <a:pPr marL="0" lvl="0" indent="0" algn="ctr">
              <a:lnSpc>
                <a:spcPts val="5373"/>
              </a:lnSpc>
            </a:pPr>
            <a:r>
              <a:rPr lang="en-US" sz="3838">
                <a:solidFill>
                  <a:srgbClr val="000000"/>
                </a:solidFill>
                <a:latin typeface="Cy Grotesk Key"/>
                <a:ea typeface="Cy Grotesk Key"/>
                <a:cs typeface="Cy Grotesk Key"/>
                <a:sym typeface="Cy Grotesk Key"/>
              </a:rPr>
              <a:t>Numérique</a:t>
            </a:r>
          </a:p>
        </p:txBody>
      </p:sp>
      <p:sp>
        <p:nvSpPr>
          <p:cNvPr id="15" name="TextBox 15"/>
          <p:cNvSpPr txBox="1"/>
          <p:nvPr/>
        </p:nvSpPr>
        <p:spPr>
          <a:xfrm>
            <a:off x="1915239" y="4439803"/>
            <a:ext cx="3070384" cy="1331264"/>
          </a:xfrm>
          <a:prstGeom prst="rect">
            <a:avLst/>
          </a:prstGeom>
        </p:spPr>
        <p:txBody>
          <a:bodyPr lIns="0" tIns="0" rIns="0" bIns="0" rtlCol="0" anchor="t">
            <a:spAutoFit/>
          </a:bodyPr>
          <a:lstStyle/>
          <a:p>
            <a:pPr marL="0" lvl="0" indent="0" algn="ctr">
              <a:lnSpc>
                <a:spcPts val="5373"/>
              </a:lnSpc>
            </a:pPr>
            <a:r>
              <a:rPr lang="en-US" sz="3838">
                <a:solidFill>
                  <a:srgbClr val="FFFFFF"/>
                </a:solidFill>
                <a:latin typeface="Cy Grotesk Key"/>
                <a:ea typeface="Cy Grotesk Key"/>
                <a:cs typeface="Cy Grotesk Key"/>
                <a:sym typeface="Cy Grotesk Key"/>
              </a:rPr>
              <a:t>Isolement</a:t>
            </a:r>
          </a:p>
          <a:p>
            <a:pPr marL="0" lvl="0" indent="0" algn="ctr">
              <a:lnSpc>
                <a:spcPts val="5373"/>
              </a:lnSpc>
            </a:pPr>
            <a:r>
              <a:rPr lang="en-US" sz="3838">
                <a:solidFill>
                  <a:srgbClr val="FFFFFF"/>
                </a:solidFill>
                <a:latin typeface="Cy Grotesk Key"/>
                <a:ea typeface="Cy Grotesk Key"/>
                <a:cs typeface="Cy Grotesk Key"/>
                <a:sym typeface="Cy Grotesk Key"/>
              </a:rPr>
              <a:t>des Seniors</a:t>
            </a:r>
          </a:p>
        </p:txBody>
      </p:sp>
      <p:sp>
        <p:nvSpPr>
          <p:cNvPr id="16" name="TextBox 16"/>
          <p:cNvSpPr txBox="1"/>
          <p:nvPr/>
        </p:nvSpPr>
        <p:spPr>
          <a:xfrm>
            <a:off x="1915239" y="7304393"/>
            <a:ext cx="3070384" cy="1331264"/>
          </a:xfrm>
          <a:prstGeom prst="rect">
            <a:avLst/>
          </a:prstGeom>
        </p:spPr>
        <p:txBody>
          <a:bodyPr lIns="0" tIns="0" rIns="0" bIns="0" rtlCol="0" anchor="t">
            <a:spAutoFit/>
          </a:bodyPr>
          <a:lstStyle/>
          <a:p>
            <a:pPr marL="0" lvl="0" indent="0" algn="ctr">
              <a:lnSpc>
                <a:spcPts val="5373"/>
              </a:lnSpc>
            </a:pPr>
            <a:r>
              <a:rPr lang="en-US" sz="3838">
                <a:solidFill>
                  <a:srgbClr val="000000"/>
                </a:solidFill>
                <a:latin typeface="Cy Grotesk Key"/>
                <a:ea typeface="Cy Grotesk Key"/>
                <a:cs typeface="Cy Grotesk Key"/>
                <a:sym typeface="Cy Grotesk Key"/>
              </a:rPr>
              <a:t>Inégalités</a:t>
            </a:r>
          </a:p>
          <a:p>
            <a:pPr marL="0" lvl="0" indent="0" algn="ctr">
              <a:lnSpc>
                <a:spcPts val="5373"/>
              </a:lnSpc>
            </a:pPr>
            <a:r>
              <a:rPr lang="en-US" sz="3838">
                <a:solidFill>
                  <a:srgbClr val="000000"/>
                </a:solidFill>
                <a:latin typeface="Cy Grotesk Key"/>
                <a:ea typeface="Cy Grotesk Key"/>
                <a:cs typeface="Cy Grotesk Key"/>
                <a:sym typeface="Cy Grotesk Key"/>
              </a:rPr>
              <a:t>Numériques</a:t>
            </a:r>
          </a:p>
        </p:txBody>
      </p:sp>
      <p:sp>
        <p:nvSpPr>
          <p:cNvPr id="17" name="TextBox 17"/>
          <p:cNvSpPr txBox="1"/>
          <p:nvPr/>
        </p:nvSpPr>
        <p:spPr>
          <a:xfrm>
            <a:off x="7168527" y="7119471"/>
            <a:ext cx="8991915" cy="1166495"/>
          </a:xfrm>
          <a:prstGeom prst="rect">
            <a:avLst/>
          </a:prstGeom>
        </p:spPr>
        <p:txBody>
          <a:bodyPr lIns="0" tIns="0" rIns="0" bIns="0" rtlCol="0" anchor="t">
            <a:spAutoFit/>
          </a:bodyPr>
          <a:lstStyle/>
          <a:p>
            <a:pPr marL="0" lvl="0" indent="0" algn="just">
              <a:lnSpc>
                <a:spcPts val="2380"/>
              </a:lnSpc>
            </a:pPr>
            <a:r>
              <a:rPr lang="en-US" sz="1700">
                <a:solidFill>
                  <a:srgbClr val="000000"/>
                </a:solidFill>
                <a:latin typeface="Canva Sans"/>
                <a:ea typeface="Canva Sans"/>
                <a:cs typeface="Canva Sans"/>
                <a:sym typeface="Canva Sans"/>
              </a:rPr>
              <a:t>Les seniors font face à un isolement numérique croissant, les privant de communication avec leurs proches et d'accès aux services en ligne. Parallèlement, de nombreux jeunes manquent d'accompagnement pour développer leurs compétences numériques de manière responsable et citoyenne.</a:t>
            </a:r>
          </a:p>
        </p:txBody>
      </p:sp>
      <p:sp>
        <p:nvSpPr>
          <p:cNvPr id="18" name="TextBox 18"/>
          <p:cNvSpPr txBox="1"/>
          <p:nvPr/>
        </p:nvSpPr>
        <p:spPr>
          <a:xfrm>
            <a:off x="7168527" y="6563233"/>
            <a:ext cx="8991915" cy="396283"/>
          </a:xfrm>
          <a:prstGeom prst="rect">
            <a:avLst/>
          </a:prstGeom>
        </p:spPr>
        <p:txBody>
          <a:bodyPr lIns="0" tIns="0" rIns="0" bIns="0" rtlCol="0" anchor="t">
            <a:spAutoFit/>
          </a:bodyPr>
          <a:lstStyle/>
          <a:p>
            <a:pPr marL="0" lvl="0" indent="0" algn="l">
              <a:lnSpc>
                <a:spcPts val="3357"/>
              </a:lnSpc>
            </a:pPr>
            <a:r>
              <a:rPr lang="en-US" sz="2398" b="1">
                <a:solidFill>
                  <a:srgbClr val="C61800"/>
                </a:solidFill>
                <a:latin typeface="Canva Sans Bold"/>
                <a:ea typeface="Canva Sans Bold"/>
                <a:cs typeface="Canva Sans Bold"/>
                <a:sym typeface="Canva Sans Bold"/>
              </a:rPr>
              <a:t>Isolement Numérique des Personnes Âgées</a:t>
            </a:r>
          </a:p>
        </p:txBody>
      </p:sp>
      <p:sp>
        <p:nvSpPr>
          <p:cNvPr id="19" name="Freeform 19"/>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20" name="TextBox 20"/>
          <p:cNvSpPr txBox="1"/>
          <p:nvPr/>
        </p:nvSpPr>
        <p:spPr>
          <a:xfrm>
            <a:off x="7693700" y="4882378"/>
            <a:ext cx="8466741" cy="871220"/>
          </a:xfrm>
          <a:prstGeom prst="rect">
            <a:avLst/>
          </a:prstGeom>
        </p:spPr>
        <p:txBody>
          <a:bodyPr lIns="0" tIns="0" rIns="0" bIns="0" rtlCol="0" anchor="t">
            <a:spAutoFit/>
          </a:bodyPr>
          <a:lstStyle/>
          <a:p>
            <a:pPr marL="0" lvl="0" indent="0" algn="l">
              <a:lnSpc>
                <a:spcPts val="2380"/>
              </a:lnSpc>
            </a:pPr>
            <a:r>
              <a:rPr lang="en-US" sz="1700" i="1">
                <a:solidFill>
                  <a:srgbClr val="000000"/>
                </a:solidFill>
                <a:latin typeface="Canva Sans Italics"/>
                <a:ea typeface="Canva Sans Italics"/>
                <a:cs typeface="Canva Sans Italics"/>
                <a:sym typeface="Canva Sans Italics"/>
              </a:rPr>
              <a:t>Écart croissant entre les générations dans l'accès et la maîtrise des outils numériques. Difficultés d'accès aux équipements informatiques pour une partie de la population. Besoin urgent d'actions éducatives et citoyennes.</a:t>
            </a:r>
          </a:p>
        </p:txBody>
      </p:sp>
      <p:sp>
        <p:nvSpPr>
          <p:cNvPr id="21" name="AutoShape 21"/>
          <p:cNvSpPr/>
          <p:nvPr/>
        </p:nvSpPr>
        <p:spPr>
          <a:xfrm flipH="1">
            <a:off x="7409815" y="4964705"/>
            <a:ext cx="0" cy="1137920"/>
          </a:xfrm>
          <a:prstGeom prst="line">
            <a:avLst/>
          </a:prstGeom>
          <a:ln w="28575" cap="flat">
            <a:solidFill>
              <a:srgbClr val="000000"/>
            </a:solidFill>
            <a:prstDash val="solid"/>
            <a:headEnd type="none" w="sm" len="sm"/>
            <a:tailEnd type="none" w="sm" len="sm"/>
          </a:ln>
        </p:spPr>
        <p:txBody>
          <a:bodyPr/>
          <a:lstStyle/>
          <a:p>
            <a:endParaRPr lang="fr-FR"/>
          </a:p>
        </p:txBody>
      </p:sp>
      <p:sp>
        <p:nvSpPr>
          <p:cNvPr id="22" name="TextBox 22"/>
          <p:cNvSpPr txBox="1"/>
          <p:nvPr/>
        </p:nvSpPr>
        <p:spPr>
          <a:xfrm>
            <a:off x="6882681" y="1979307"/>
            <a:ext cx="9563606" cy="1749514"/>
          </a:xfrm>
          <a:prstGeom prst="rect">
            <a:avLst/>
          </a:prstGeom>
        </p:spPr>
        <p:txBody>
          <a:bodyPr lIns="0" tIns="0" rIns="0" bIns="0" rtlCol="0" anchor="t">
            <a:spAutoFit/>
          </a:bodyPr>
          <a:lstStyle/>
          <a:p>
            <a:pPr marL="0" lvl="0" indent="0" algn="ctr">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LES PROBLÉMATIQUES DU TERRITOIRE</a:t>
            </a:r>
          </a:p>
        </p:txBody>
      </p:sp>
      <p:sp>
        <p:nvSpPr>
          <p:cNvPr id="23" name="TextBox 23"/>
          <p:cNvSpPr txBox="1"/>
          <p:nvPr/>
        </p:nvSpPr>
        <p:spPr>
          <a:xfrm>
            <a:off x="6882681" y="1346212"/>
            <a:ext cx="9563606" cy="547427"/>
          </a:xfrm>
          <a:prstGeom prst="rect">
            <a:avLst/>
          </a:prstGeom>
        </p:spPr>
        <p:txBody>
          <a:bodyPr lIns="0" tIns="0" rIns="0" bIns="0" rtlCol="0" anchor="t">
            <a:spAutoFit/>
          </a:bodyPr>
          <a:lstStyle/>
          <a:p>
            <a:pPr marL="690395" lvl="1" indent="-345197" algn="ctr">
              <a:lnSpc>
                <a:spcPts val="4476"/>
              </a:lnSpc>
              <a:spcBef>
                <a:spcPct val="0"/>
              </a:spcBef>
              <a:buFont typeface="Arial"/>
              <a:buChar char="•"/>
            </a:pPr>
            <a:r>
              <a:rPr lang="en-US" sz="3197" b="1">
                <a:solidFill>
                  <a:srgbClr val="C61800"/>
                </a:solidFill>
                <a:latin typeface="Cy Grotesk Key Semi-Bold"/>
                <a:ea typeface="Cy Grotesk Key Semi-Bold"/>
                <a:cs typeface="Cy Grotesk Key Semi-Bold"/>
                <a:sym typeface="Cy Grotesk Key Semi-Bold"/>
              </a:rPr>
              <a:t>SLIDE 5 -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grpSp>
        <p:nvGrpSpPr>
          <p:cNvPr id="3" name="Group 3"/>
          <p:cNvGrpSpPr/>
          <p:nvPr/>
        </p:nvGrpSpPr>
        <p:grpSpPr>
          <a:xfrm>
            <a:off x="1219200" y="1278688"/>
            <a:ext cx="14139687" cy="8229600"/>
            <a:chOff x="0" y="0"/>
            <a:chExt cx="11041264" cy="6426252"/>
          </a:xfrm>
        </p:grpSpPr>
        <p:sp>
          <p:nvSpPr>
            <p:cNvPr id="4" name="Freeform 4"/>
            <p:cNvSpPr/>
            <p:nvPr/>
          </p:nvSpPr>
          <p:spPr>
            <a:xfrm>
              <a:off x="0" y="0"/>
              <a:ext cx="11041265" cy="6426252"/>
            </a:xfrm>
            <a:custGeom>
              <a:avLst/>
              <a:gdLst/>
              <a:ahLst/>
              <a:cxnLst/>
              <a:rect l="l" t="t" r="r" b="b"/>
              <a:pathLst>
                <a:path w="11041265" h="6426252">
                  <a:moveTo>
                    <a:pt x="16426" y="0"/>
                  </a:moveTo>
                  <a:lnTo>
                    <a:pt x="11024839" y="0"/>
                  </a:lnTo>
                  <a:cubicBezTo>
                    <a:pt x="11029195" y="0"/>
                    <a:pt x="11033373" y="1731"/>
                    <a:pt x="11036453" y="4811"/>
                  </a:cubicBezTo>
                  <a:cubicBezTo>
                    <a:pt x="11039534" y="7892"/>
                    <a:pt x="11041265" y="12070"/>
                    <a:pt x="11041265" y="16426"/>
                  </a:cubicBezTo>
                  <a:lnTo>
                    <a:pt x="11041265" y="6409826"/>
                  </a:lnTo>
                  <a:cubicBezTo>
                    <a:pt x="11041265" y="6418898"/>
                    <a:pt x="11033911" y="6426252"/>
                    <a:pt x="11024839" y="6426252"/>
                  </a:cubicBezTo>
                  <a:lnTo>
                    <a:pt x="16426" y="6426252"/>
                  </a:lnTo>
                  <a:cubicBezTo>
                    <a:pt x="7354" y="6426252"/>
                    <a:pt x="0" y="6418898"/>
                    <a:pt x="0" y="6409826"/>
                  </a:cubicBezTo>
                  <a:lnTo>
                    <a:pt x="0" y="16426"/>
                  </a:lnTo>
                  <a:cubicBezTo>
                    <a:pt x="0" y="7354"/>
                    <a:pt x="7354" y="0"/>
                    <a:pt x="16426" y="0"/>
                  </a:cubicBezTo>
                  <a:close/>
                </a:path>
              </a:pathLst>
            </a:custGeom>
            <a:solidFill>
              <a:srgbClr val="FFFFFF"/>
            </a:solidFill>
            <a:ln w="19050" cap="rnd">
              <a:solidFill>
                <a:srgbClr val="000000"/>
              </a:solidFill>
              <a:prstDash val="solid"/>
              <a:round/>
            </a:ln>
          </p:spPr>
          <p:txBody>
            <a:bodyPr/>
            <a:lstStyle/>
            <a:p>
              <a:endParaRPr lang="fr-FR" dirty="0"/>
            </a:p>
          </p:txBody>
        </p:sp>
        <p:sp>
          <p:nvSpPr>
            <p:cNvPr id="5" name="TextBox 5"/>
            <p:cNvSpPr txBox="1"/>
            <p:nvPr/>
          </p:nvSpPr>
          <p:spPr>
            <a:xfrm>
              <a:off x="0" y="-38100"/>
              <a:ext cx="11041264" cy="646435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2196131" y="4777641"/>
            <a:ext cx="1896769" cy="514404"/>
          </a:xfrm>
          <a:prstGeom prst="rect">
            <a:avLst/>
          </a:prstGeom>
        </p:spPr>
        <p:txBody>
          <a:bodyPr lIns="0" tIns="0" rIns="0" bIns="0" rtlCol="0" anchor="t">
            <a:spAutoFit/>
          </a:bodyPr>
          <a:lstStyle/>
          <a:p>
            <a:pPr marL="0" lvl="0" indent="0" algn="l">
              <a:lnSpc>
                <a:spcPts val="4197"/>
              </a:lnSpc>
              <a:spcBef>
                <a:spcPct val="0"/>
              </a:spcBef>
            </a:pPr>
            <a:r>
              <a:rPr lang="en-US" sz="2997">
                <a:solidFill>
                  <a:srgbClr val="000000"/>
                </a:solidFill>
                <a:latin typeface="Cy Grotesk Key"/>
                <a:ea typeface="Cy Grotesk Key"/>
                <a:cs typeface="Cy Grotesk Key"/>
                <a:sym typeface="Cy Grotesk Key"/>
              </a:rPr>
              <a:t>Planning</a:t>
            </a:r>
          </a:p>
        </p:txBody>
      </p:sp>
      <p:sp>
        <p:nvSpPr>
          <p:cNvPr id="7" name="Freeform 7"/>
          <p:cNvSpPr/>
          <p:nvPr/>
        </p:nvSpPr>
        <p:spPr>
          <a:xfrm>
            <a:off x="12339956" y="1240588"/>
            <a:ext cx="5327070" cy="5041266"/>
          </a:xfrm>
          <a:custGeom>
            <a:avLst/>
            <a:gdLst/>
            <a:ahLst/>
            <a:cxnLst/>
            <a:rect l="l" t="t" r="r" b="b"/>
            <a:pathLst>
              <a:path w="5327070" h="5041266">
                <a:moveTo>
                  <a:pt x="0" y="0"/>
                </a:moveTo>
                <a:lnTo>
                  <a:pt x="5327071" y="0"/>
                </a:lnTo>
                <a:lnTo>
                  <a:pt x="5327071" y="5041266"/>
                </a:lnTo>
                <a:lnTo>
                  <a:pt x="0" y="5041266"/>
                </a:lnTo>
                <a:lnTo>
                  <a:pt x="0" y="0"/>
                </a:lnTo>
                <a:close/>
              </a:path>
            </a:pathLst>
          </a:custGeom>
          <a:blipFill>
            <a:blip r:embed="rId3"/>
            <a:stretch>
              <a:fillRect/>
            </a:stretch>
          </a:blipFill>
        </p:spPr>
        <p:txBody>
          <a:bodyPr/>
          <a:lstStyle/>
          <a:p>
            <a:endParaRPr lang="fr-FR"/>
          </a:p>
        </p:txBody>
      </p:sp>
      <p:sp>
        <p:nvSpPr>
          <p:cNvPr id="8" name="TextBox 8"/>
          <p:cNvSpPr txBox="1"/>
          <p:nvPr/>
        </p:nvSpPr>
        <p:spPr>
          <a:xfrm>
            <a:off x="4921575" y="4040953"/>
            <a:ext cx="7138311" cy="1656715"/>
          </a:xfrm>
          <a:prstGeom prst="rect">
            <a:avLst/>
          </a:prstGeom>
        </p:spPr>
        <p:txBody>
          <a:bodyPr lIns="0" tIns="0" rIns="0" bIns="0" rtlCol="0" anchor="t">
            <a:spAutoFit/>
          </a:bodyPr>
          <a:lstStyle/>
          <a:p>
            <a:pPr marL="0" lvl="0" indent="0" algn="l">
              <a:lnSpc>
                <a:spcPts val="2659"/>
              </a:lnSpc>
            </a:pPr>
            <a:r>
              <a:rPr lang="en-US" sz="1899">
                <a:solidFill>
                  <a:srgbClr val="000000"/>
                </a:solidFill>
                <a:latin typeface="Canva Sans"/>
                <a:ea typeface="Canva Sans"/>
                <a:cs typeface="Canva Sans"/>
                <a:sym typeface="Canva Sans"/>
              </a:rPr>
              <a:t>Démarrage des ateliers en janvier 2026 avec deux séances hebdomadaires : le lundi et le samedi matin, d'une durée de 2 heures chacune. Ces créneaux permettent d'accueillir un maximum de participants et de créer une régularité propice à l'apprentissage.</a:t>
            </a:r>
          </a:p>
        </p:txBody>
      </p:sp>
      <p:sp>
        <p:nvSpPr>
          <p:cNvPr id="9" name="AutoShape 9"/>
          <p:cNvSpPr/>
          <p:nvPr/>
        </p:nvSpPr>
        <p:spPr>
          <a:xfrm>
            <a:off x="4621537" y="4124314"/>
            <a:ext cx="13913" cy="1897204"/>
          </a:xfrm>
          <a:prstGeom prst="line">
            <a:avLst/>
          </a:prstGeom>
          <a:ln w="28575" cap="flat">
            <a:solidFill>
              <a:srgbClr val="000000"/>
            </a:solidFill>
            <a:prstDash val="solid"/>
            <a:headEnd type="none" w="sm" len="sm"/>
            <a:tailEnd type="none" w="sm" len="sm"/>
          </a:ln>
        </p:spPr>
        <p:txBody>
          <a:bodyPr/>
          <a:lstStyle/>
          <a:p>
            <a:endParaRPr lang="fr-FR"/>
          </a:p>
        </p:txBody>
      </p:sp>
      <p:sp>
        <p:nvSpPr>
          <p:cNvPr id="10" name="TextBox 10"/>
          <p:cNvSpPr txBox="1"/>
          <p:nvPr/>
        </p:nvSpPr>
        <p:spPr>
          <a:xfrm>
            <a:off x="2196131" y="7213081"/>
            <a:ext cx="2134894" cy="514404"/>
          </a:xfrm>
          <a:prstGeom prst="rect">
            <a:avLst/>
          </a:prstGeom>
        </p:spPr>
        <p:txBody>
          <a:bodyPr lIns="0" tIns="0" rIns="0" bIns="0" rtlCol="0" anchor="t">
            <a:spAutoFit/>
          </a:bodyPr>
          <a:lstStyle/>
          <a:p>
            <a:pPr marL="0" lvl="0" indent="0" algn="l">
              <a:lnSpc>
                <a:spcPts val="4197"/>
              </a:lnSpc>
              <a:spcBef>
                <a:spcPct val="0"/>
              </a:spcBef>
            </a:pPr>
            <a:r>
              <a:rPr lang="en-US" sz="2997">
                <a:solidFill>
                  <a:srgbClr val="000000"/>
                </a:solidFill>
                <a:latin typeface="Cy Grotesk Key"/>
                <a:ea typeface="Cy Grotesk Key"/>
                <a:cs typeface="Cy Grotesk Key"/>
                <a:sym typeface="Cy Grotesk Key"/>
              </a:rPr>
              <a:t>Objectifs</a:t>
            </a:r>
          </a:p>
        </p:txBody>
      </p:sp>
      <p:sp>
        <p:nvSpPr>
          <p:cNvPr id="11" name="AutoShape 11"/>
          <p:cNvSpPr/>
          <p:nvPr/>
        </p:nvSpPr>
        <p:spPr>
          <a:xfrm>
            <a:off x="4621538" y="6365718"/>
            <a:ext cx="6956" cy="2240104"/>
          </a:xfrm>
          <a:prstGeom prst="line">
            <a:avLst/>
          </a:prstGeom>
          <a:ln w="28575" cap="flat">
            <a:solidFill>
              <a:srgbClr val="000000"/>
            </a:solidFill>
            <a:prstDash val="solid"/>
            <a:headEnd type="none" w="sm" len="sm"/>
            <a:tailEnd type="none" w="sm" len="sm"/>
          </a:ln>
        </p:spPr>
        <p:txBody>
          <a:bodyPr/>
          <a:lstStyle/>
          <a:p>
            <a:endParaRPr lang="fr-FR"/>
          </a:p>
        </p:txBody>
      </p:sp>
      <p:sp>
        <p:nvSpPr>
          <p:cNvPr id="12" name="TextBox 12"/>
          <p:cNvSpPr txBox="1"/>
          <p:nvPr/>
        </p:nvSpPr>
        <p:spPr>
          <a:xfrm>
            <a:off x="2196130" y="1698827"/>
            <a:ext cx="11215069" cy="754887"/>
          </a:xfrm>
          <a:prstGeom prst="rect">
            <a:avLst/>
          </a:prstGeom>
        </p:spPr>
        <p:txBody>
          <a:bodyPr wrap="square" lIns="0" tIns="0" rIns="0" bIns="0" rtlCol="0" anchor="t">
            <a:spAutoFit/>
          </a:bodyPr>
          <a:lstStyle/>
          <a:p>
            <a:pPr lvl="0">
              <a:lnSpc>
                <a:spcPts val="6555"/>
              </a:lnSpc>
              <a:spcBef>
                <a:spcPct val="0"/>
              </a:spcBef>
            </a:pPr>
            <a:r>
              <a:rPr lang="en-US" sz="4682" b="1" dirty="0">
                <a:solidFill>
                  <a:srgbClr val="000000"/>
                </a:solidFill>
                <a:latin typeface="Cy Grotesk Key Semi-Bold"/>
                <a:ea typeface="Cy Grotesk Key Semi-Bold"/>
                <a:cs typeface="Cy Grotesk Key Semi-Bold"/>
                <a:sym typeface="Cy Grotesk Key Semi-Bold"/>
              </a:rPr>
              <a:t>LES ATELIERS NUMÉRIQUES </a:t>
            </a:r>
          </a:p>
        </p:txBody>
      </p:sp>
      <p:sp>
        <p:nvSpPr>
          <p:cNvPr id="14" name="TextBox 14"/>
          <p:cNvSpPr txBox="1"/>
          <p:nvPr/>
        </p:nvSpPr>
        <p:spPr>
          <a:xfrm>
            <a:off x="4921575" y="6327574"/>
            <a:ext cx="9684002" cy="1323340"/>
          </a:xfrm>
          <a:prstGeom prst="rect">
            <a:avLst/>
          </a:prstGeom>
        </p:spPr>
        <p:txBody>
          <a:bodyPr lIns="0" tIns="0" rIns="0" bIns="0" rtlCol="0" anchor="t">
            <a:spAutoFit/>
          </a:bodyPr>
          <a:lstStyle/>
          <a:p>
            <a:pPr marL="0" lvl="0" indent="0" algn="l">
              <a:lnSpc>
                <a:spcPts val="2659"/>
              </a:lnSpc>
            </a:pPr>
            <a:r>
              <a:rPr lang="en-US" sz="1899">
                <a:solidFill>
                  <a:srgbClr val="000000"/>
                </a:solidFill>
                <a:latin typeface="Canva Sans"/>
                <a:ea typeface="Canva Sans"/>
                <a:cs typeface="Canva Sans"/>
                <a:sym typeface="Canva Sans"/>
              </a:rPr>
              <a:t>Créer un espace d'échange et de transmission entre les générations. Les jeunes formés au numérique deviennent animateurs d'ateliers pour accompagner les personnes âgées. Cette approche favorise la responsabilisation des jeunes tout en réduisant l'isolement numérique des seniors.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94404" y="1028700"/>
            <a:ext cx="4112054" cy="2500419"/>
            <a:chOff x="0" y="0"/>
            <a:chExt cx="3210981" cy="1952504"/>
          </a:xfrm>
        </p:grpSpPr>
        <p:sp>
          <p:nvSpPr>
            <p:cNvPr id="3" name="Freeform 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394404" y="3893290"/>
            <a:ext cx="4112054" cy="2500419"/>
            <a:chOff x="0" y="0"/>
            <a:chExt cx="3210981" cy="1952504"/>
          </a:xfrm>
        </p:grpSpPr>
        <p:sp>
          <p:nvSpPr>
            <p:cNvPr id="6" name="Freeform 6"/>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7" name="TextBox 7"/>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rot="67865" flipH="1">
            <a:off x="-227870" y="7574300"/>
            <a:ext cx="19658875" cy="3359880"/>
          </a:xfrm>
          <a:custGeom>
            <a:avLst/>
            <a:gdLst/>
            <a:ahLst/>
            <a:cxnLst/>
            <a:rect l="l" t="t" r="r" b="b"/>
            <a:pathLst>
              <a:path w="19658875" h="3359880">
                <a:moveTo>
                  <a:pt x="19658875" y="0"/>
                </a:moveTo>
                <a:lnTo>
                  <a:pt x="0" y="0"/>
                </a:lnTo>
                <a:lnTo>
                  <a:pt x="0" y="3359880"/>
                </a:lnTo>
                <a:lnTo>
                  <a:pt x="19658875" y="3359880"/>
                </a:lnTo>
                <a:lnTo>
                  <a:pt x="1965887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grpSp>
        <p:nvGrpSpPr>
          <p:cNvPr id="9" name="Group 9"/>
          <p:cNvGrpSpPr/>
          <p:nvPr/>
        </p:nvGrpSpPr>
        <p:grpSpPr>
          <a:xfrm>
            <a:off x="6435373" y="4283455"/>
            <a:ext cx="10458223" cy="4974845"/>
            <a:chOff x="0" y="0"/>
            <a:chExt cx="8166518" cy="3884709"/>
          </a:xfrm>
        </p:grpSpPr>
        <p:sp>
          <p:nvSpPr>
            <p:cNvPr id="10" name="Freeform 10"/>
            <p:cNvSpPr/>
            <p:nvPr/>
          </p:nvSpPr>
          <p:spPr>
            <a:xfrm>
              <a:off x="0" y="0"/>
              <a:ext cx="8166518" cy="3884709"/>
            </a:xfrm>
            <a:custGeom>
              <a:avLst/>
              <a:gdLst/>
              <a:ahLst/>
              <a:cxnLst/>
              <a:rect l="l" t="t" r="r" b="b"/>
              <a:pathLst>
                <a:path w="8166518" h="3884709">
                  <a:moveTo>
                    <a:pt x="22208" y="0"/>
                  </a:moveTo>
                  <a:lnTo>
                    <a:pt x="8144310" y="0"/>
                  </a:lnTo>
                  <a:cubicBezTo>
                    <a:pt x="8156575" y="0"/>
                    <a:pt x="8166518" y="9943"/>
                    <a:pt x="8166518" y="22208"/>
                  </a:cubicBezTo>
                  <a:lnTo>
                    <a:pt x="8166518" y="3862501"/>
                  </a:lnTo>
                  <a:cubicBezTo>
                    <a:pt x="8166518" y="3874767"/>
                    <a:pt x="8156575" y="3884709"/>
                    <a:pt x="8144310" y="3884709"/>
                  </a:cubicBezTo>
                  <a:lnTo>
                    <a:pt x="22208" y="3884709"/>
                  </a:lnTo>
                  <a:cubicBezTo>
                    <a:pt x="9943" y="3884709"/>
                    <a:pt x="0" y="3874767"/>
                    <a:pt x="0" y="3862501"/>
                  </a:cubicBezTo>
                  <a:lnTo>
                    <a:pt x="0" y="22208"/>
                  </a:lnTo>
                  <a:cubicBezTo>
                    <a:pt x="0" y="9943"/>
                    <a:pt x="9943" y="0"/>
                    <a:pt x="22208" y="0"/>
                  </a:cubicBezTo>
                  <a:close/>
                </a:path>
              </a:pathLst>
            </a:custGeom>
            <a:solidFill>
              <a:srgbClr val="FFFFFF"/>
            </a:solidFill>
            <a:ln w="19050" cap="rnd">
              <a:solidFill>
                <a:srgbClr val="000000"/>
              </a:solidFill>
              <a:prstDash val="solid"/>
              <a:round/>
            </a:ln>
          </p:spPr>
          <p:txBody>
            <a:bodyPr/>
            <a:lstStyle/>
            <a:p>
              <a:endParaRPr lang="fr-FR"/>
            </a:p>
          </p:txBody>
        </p:sp>
        <p:sp>
          <p:nvSpPr>
            <p:cNvPr id="11" name="TextBox 11"/>
            <p:cNvSpPr txBox="1"/>
            <p:nvPr/>
          </p:nvSpPr>
          <p:spPr>
            <a:xfrm>
              <a:off x="0" y="-38100"/>
              <a:ext cx="8166518" cy="392280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1394404" y="6757881"/>
            <a:ext cx="4112054" cy="2500419"/>
            <a:chOff x="0" y="0"/>
            <a:chExt cx="3210981" cy="1952504"/>
          </a:xfrm>
        </p:grpSpPr>
        <p:sp>
          <p:nvSpPr>
            <p:cNvPr id="13" name="Freeform 1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000000"/>
            </a:solidFill>
            <a:ln w="19050" cap="rnd">
              <a:solidFill>
                <a:srgbClr val="000000"/>
              </a:solidFill>
              <a:prstDash val="solid"/>
              <a:round/>
            </a:ln>
          </p:spPr>
          <p:txBody>
            <a:bodyPr/>
            <a:lstStyle/>
            <a:p>
              <a:endParaRPr lang="fr-FR"/>
            </a:p>
          </p:txBody>
        </p:sp>
        <p:sp>
          <p:nvSpPr>
            <p:cNvPr id="14" name="TextBox 1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15"/>
          <p:cNvSpPr txBox="1"/>
          <p:nvPr/>
        </p:nvSpPr>
        <p:spPr>
          <a:xfrm>
            <a:off x="1915239" y="1575212"/>
            <a:ext cx="3070384" cy="1331264"/>
          </a:xfrm>
          <a:prstGeom prst="rect">
            <a:avLst/>
          </a:prstGeom>
        </p:spPr>
        <p:txBody>
          <a:bodyPr lIns="0" tIns="0" rIns="0" bIns="0" rtlCol="0" anchor="t">
            <a:spAutoFit/>
          </a:bodyPr>
          <a:lstStyle/>
          <a:p>
            <a:pPr marL="0" lvl="0" indent="0" algn="ctr">
              <a:lnSpc>
                <a:spcPts val="5373"/>
              </a:lnSpc>
            </a:pPr>
            <a:r>
              <a:rPr lang="en-US" sz="3838">
                <a:solidFill>
                  <a:srgbClr val="000000"/>
                </a:solidFill>
                <a:latin typeface="Cy Grotesk Key"/>
                <a:ea typeface="Cy Grotesk Key"/>
                <a:cs typeface="Cy Grotesk Key"/>
                <a:sym typeface="Cy Grotesk Key"/>
              </a:rPr>
              <a:t>Objectif</a:t>
            </a:r>
          </a:p>
          <a:p>
            <a:pPr marL="0" lvl="0" indent="0" algn="ctr">
              <a:lnSpc>
                <a:spcPts val="5373"/>
              </a:lnSpc>
            </a:pPr>
            <a:r>
              <a:rPr lang="en-US" sz="3838">
                <a:solidFill>
                  <a:srgbClr val="000000"/>
                </a:solidFill>
                <a:latin typeface="Cy Grotesk Key"/>
                <a:ea typeface="Cy Grotesk Key"/>
                <a:cs typeface="Cy Grotesk Key"/>
                <a:sym typeface="Cy Grotesk Key"/>
              </a:rPr>
              <a:t>1</a:t>
            </a:r>
          </a:p>
        </p:txBody>
      </p:sp>
      <p:sp>
        <p:nvSpPr>
          <p:cNvPr id="16" name="TextBox 16"/>
          <p:cNvSpPr txBox="1"/>
          <p:nvPr/>
        </p:nvSpPr>
        <p:spPr>
          <a:xfrm>
            <a:off x="1915239" y="4439803"/>
            <a:ext cx="3070384" cy="1331264"/>
          </a:xfrm>
          <a:prstGeom prst="rect">
            <a:avLst/>
          </a:prstGeom>
        </p:spPr>
        <p:txBody>
          <a:bodyPr lIns="0" tIns="0" rIns="0" bIns="0" rtlCol="0" anchor="t">
            <a:spAutoFit/>
          </a:bodyPr>
          <a:lstStyle/>
          <a:p>
            <a:pPr marL="0" lvl="0" indent="0" algn="ctr">
              <a:lnSpc>
                <a:spcPts val="5373"/>
              </a:lnSpc>
            </a:pPr>
            <a:r>
              <a:rPr lang="en-US" sz="3838">
                <a:solidFill>
                  <a:srgbClr val="000000"/>
                </a:solidFill>
                <a:latin typeface="Cy Grotesk Key"/>
                <a:ea typeface="Cy Grotesk Key"/>
                <a:cs typeface="Cy Grotesk Key"/>
                <a:sym typeface="Cy Grotesk Key"/>
              </a:rPr>
              <a:t>Contenus</a:t>
            </a:r>
          </a:p>
          <a:p>
            <a:pPr marL="0" lvl="0" indent="0" algn="ctr">
              <a:lnSpc>
                <a:spcPts val="5373"/>
              </a:lnSpc>
            </a:pPr>
            <a:r>
              <a:rPr lang="en-US" sz="3838">
                <a:solidFill>
                  <a:srgbClr val="000000"/>
                </a:solidFill>
                <a:latin typeface="Cy Grotesk Key"/>
                <a:ea typeface="Cy Grotesk Key"/>
                <a:cs typeface="Cy Grotesk Key"/>
                <a:sym typeface="Cy Grotesk Key"/>
              </a:rPr>
              <a:t>2</a:t>
            </a:r>
          </a:p>
        </p:txBody>
      </p:sp>
      <p:sp>
        <p:nvSpPr>
          <p:cNvPr id="17" name="TextBox 17"/>
          <p:cNvSpPr txBox="1"/>
          <p:nvPr/>
        </p:nvSpPr>
        <p:spPr>
          <a:xfrm>
            <a:off x="1915239" y="7304393"/>
            <a:ext cx="3070384" cy="1331264"/>
          </a:xfrm>
          <a:prstGeom prst="rect">
            <a:avLst/>
          </a:prstGeom>
        </p:spPr>
        <p:txBody>
          <a:bodyPr lIns="0" tIns="0" rIns="0" bIns="0" rtlCol="0" anchor="t">
            <a:spAutoFit/>
          </a:bodyPr>
          <a:lstStyle/>
          <a:p>
            <a:pPr marL="0" lvl="0" indent="0" algn="ctr">
              <a:lnSpc>
                <a:spcPts val="5373"/>
              </a:lnSpc>
            </a:pPr>
            <a:r>
              <a:rPr lang="en-US" sz="3838">
                <a:solidFill>
                  <a:srgbClr val="FFFFFF"/>
                </a:solidFill>
                <a:latin typeface="Cy Grotesk Key"/>
                <a:ea typeface="Cy Grotesk Key"/>
                <a:cs typeface="Cy Grotesk Key"/>
                <a:sym typeface="Cy Grotesk Key"/>
              </a:rPr>
              <a:t>Finalité</a:t>
            </a:r>
          </a:p>
          <a:p>
            <a:pPr marL="0" lvl="0" indent="0" algn="ctr">
              <a:lnSpc>
                <a:spcPts val="5373"/>
              </a:lnSpc>
            </a:pPr>
            <a:r>
              <a:rPr lang="en-US" sz="3838">
                <a:solidFill>
                  <a:srgbClr val="FFFFFF"/>
                </a:solidFill>
                <a:latin typeface="Cy Grotesk Key"/>
                <a:ea typeface="Cy Grotesk Key"/>
                <a:cs typeface="Cy Grotesk Key"/>
                <a:sym typeface="Cy Grotesk Key"/>
              </a:rPr>
              <a:t>3</a:t>
            </a:r>
          </a:p>
        </p:txBody>
      </p:sp>
      <p:sp>
        <p:nvSpPr>
          <p:cNvPr id="18" name="Freeform 18"/>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19" name="TextBox 19"/>
          <p:cNvSpPr txBox="1"/>
          <p:nvPr/>
        </p:nvSpPr>
        <p:spPr>
          <a:xfrm>
            <a:off x="6882681" y="1979307"/>
            <a:ext cx="9563606" cy="1749514"/>
          </a:xfrm>
          <a:prstGeom prst="rect">
            <a:avLst/>
          </a:prstGeom>
        </p:spPr>
        <p:txBody>
          <a:bodyPr lIns="0" tIns="0" rIns="0" bIns="0" rtlCol="0" anchor="t">
            <a:spAutoFit/>
          </a:bodyPr>
          <a:lstStyle/>
          <a:p>
            <a:pPr marL="0" lvl="0" indent="0" algn="ctr">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FORMATION DES JEUNES AU NUMÉRIQUE</a:t>
            </a:r>
          </a:p>
        </p:txBody>
      </p:sp>
      <p:sp>
        <p:nvSpPr>
          <p:cNvPr id="20" name="TextBox 20"/>
          <p:cNvSpPr txBox="1"/>
          <p:nvPr/>
        </p:nvSpPr>
        <p:spPr>
          <a:xfrm>
            <a:off x="6882681" y="1346212"/>
            <a:ext cx="9563606" cy="547427"/>
          </a:xfrm>
          <a:prstGeom prst="rect">
            <a:avLst/>
          </a:prstGeom>
        </p:spPr>
        <p:txBody>
          <a:bodyPr lIns="0" tIns="0" rIns="0" bIns="0" rtlCol="0" anchor="t">
            <a:spAutoFit/>
          </a:bodyPr>
          <a:lstStyle/>
          <a:p>
            <a:pPr marL="690395" lvl="1" indent="-345197" algn="ctr">
              <a:lnSpc>
                <a:spcPts val="4476"/>
              </a:lnSpc>
              <a:spcBef>
                <a:spcPct val="0"/>
              </a:spcBef>
              <a:buFont typeface="Arial"/>
              <a:buChar char="•"/>
            </a:pPr>
            <a:r>
              <a:rPr lang="en-US" sz="3197" b="1">
                <a:solidFill>
                  <a:srgbClr val="C61800"/>
                </a:solidFill>
                <a:latin typeface="Cy Grotesk Key Semi-Bold"/>
                <a:ea typeface="Cy Grotesk Key Semi-Bold"/>
                <a:cs typeface="Cy Grotesk Key Semi-Bold"/>
                <a:sym typeface="Cy Grotesk Key Semi-Bold"/>
              </a:rPr>
              <a:t>SLIDE 7 -</a:t>
            </a:r>
          </a:p>
        </p:txBody>
      </p:sp>
      <p:sp>
        <p:nvSpPr>
          <p:cNvPr id="21" name="TextBox 21"/>
          <p:cNvSpPr txBox="1"/>
          <p:nvPr/>
        </p:nvSpPr>
        <p:spPr>
          <a:xfrm>
            <a:off x="7168527" y="4925177"/>
            <a:ext cx="8991915" cy="815340"/>
          </a:xfrm>
          <a:prstGeom prst="rect">
            <a:avLst/>
          </a:prstGeom>
        </p:spPr>
        <p:txBody>
          <a:bodyPr lIns="0" tIns="0" rIns="0" bIns="0" rtlCol="0" anchor="t">
            <a:spAutoFit/>
          </a:bodyPr>
          <a:lstStyle/>
          <a:p>
            <a:pPr marL="0" lvl="0" indent="0" algn="l">
              <a:lnSpc>
                <a:spcPts val="3359"/>
              </a:lnSpc>
            </a:pPr>
            <a:r>
              <a:rPr lang="en-US" sz="2400" b="1">
                <a:solidFill>
                  <a:srgbClr val="C61800"/>
                </a:solidFill>
                <a:latin typeface="Canva Sans Bold"/>
                <a:ea typeface="Canva Sans Bold"/>
                <a:cs typeface="Canva Sans Bold"/>
                <a:sym typeface="Canva Sans Bold"/>
              </a:rPr>
              <a:t>Responsabiliser les jeunes et les rendre acteurs de la transmission numérique auprès des seniors du territoire.</a:t>
            </a:r>
          </a:p>
        </p:txBody>
      </p:sp>
      <p:sp>
        <p:nvSpPr>
          <p:cNvPr id="22" name="TextBox 22"/>
          <p:cNvSpPr txBox="1"/>
          <p:nvPr/>
        </p:nvSpPr>
        <p:spPr>
          <a:xfrm>
            <a:off x="7168527" y="6878543"/>
            <a:ext cx="8991915" cy="1166495"/>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La formation couvre : l'utilisation d'un ordinateur, la navigation internet, les outils bureautiques, les démarches numériques simples, l'usage responsable du numérique et l'accompagnement pédagogique des seniors. Les jeunes acquièrent ainsi des compétences techniques et humaines essentielles.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TextBox 2"/>
          <p:cNvSpPr txBox="1"/>
          <p:nvPr/>
        </p:nvSpPr>
        <p:spPr>
          <a:xfrm>
            <a:off x="2032532" y="1929711"/>
            <a:ext cx="14161324" cy="2642870"/>
          </a:xfrm>
          <a:prstGeom prst="rect">
            <a:avLst/>
          </a:prstGeom>
        </p:spPr>
        <p:txBody>
          <a:bodyPr lIns="0" tIns="0" rIns="0" bIns="0" rtlCol="0" anchor="t">
            <a:spAutoFit/>
          </a:bodyPr>
          <a:lstStyle/>
          <a:p>
            <a:pPr marL="0" lvl="0" indent="0" algn="l">
              <a:lnSpc>
                <a:spcPts val="2380"/>
              </a:lnSpc>
            </a:pPr>
            <a:r>
              <a:rPr lang="en-US" sz="1700" b="1">
                <a:solidFill>
                  <a:srgbClr val="000000"/>
                </a:solidFill>
                <a:latin typeface="Canva Sans Bold"/>
                <a:ea typeface="Canva Sans Bold"/>
                <a:cs typeface="Canva Sans Bold"/>
                <a:sym typeface="Canva Sans Bold"/>
              </a:rPr>
              <a:t>Dans le cadre de ce projet, les jeunes formés deviennent de véritables accompagnateurs numériques auprès des seniors. Ils les guident dans l'apprentissage des bases de l'informatique : utilisation d'un ordinateur, navigation sur internet, et prise en main des outils essentiels du quotidien.</a:t>
            </a:r>
          </a:p>
          <a:p>
            <a:pPr marL="0" lvl="0" indent="0" algn="l">
              <a:lnSpc>
                <a:spcPts val="2380"/>
              </a:lnSpc>
            </a:pPr>
            <a:r>
              <a:rPr lang="en-US" sz="1700" b="1">
                <a:solidFill>
                  <a:srgbClr val="000000"/>
                </a:solidFill>
                <a:latin typeface="Canva Sans Bold"/>
                <a:ea typeface="Canva Sans Bold"/>
                <a:cs typeface="Canva Sans Bold"/>
                <a:sym typeface="Canva Sans Bold"/>
              </a:rPr>
              <a:t>L'objectif principal est de favoriser l'autonomie numérique des personnes âgées. Les seniors apprennent à effectuer leurs démarches administratives en ligne, à communiquer avec leurs proches par email ou visioconférence, et à accéder aux services numériques de manière indépendante.</a:t>
            </a:r>
          </a:p>
          <a:p>
            <a:pPr marL="0" lvl="0" indent="0" algn="l">
              <a:lnSpc>
                <a:spcPts val="2380"/>
              </a:lnSpc>
            </a:pPr>
            <a:r>
              <a:rPr lang="en-US" sz="1700" b="1">
                <a:solidFill>
                  <a:srgbClr val="000000"/>
                </a:solidFill>
                <a:latin typeface="Canva Sans Bold"/>
                <a:ea typeface="Canva Sans Bold"/>
                <a:cs typeface="Canva Sans Bold"/>
                <a:sym typeface="Canva Sans Bold"/>
              </a:rPr>
              <a:t>Au-delà de l'aspect technique, ces ateliers créent un véritable espace de dialogue intergénérationnel. La coopération entre jeunes et seniors favorise les échanges, le respect mutuel et la solidarité. Chaque séance devient une occasion de partage où les générations apprennent les unes des autres.</a:t>
            </a:r>
          </a:p>
        </p:txBody>
      </p:sp>
      <p:sp>
        <p:nvSpPr>
          <p:cNvPr id="3" name="Freeform 3"/>
          <p:cNvSpPr/>
          <p:nvPr/>
        </p:nvSpPr>
        <p:spPr>
          <a:xfrm>
            <a:off x="6967186" y="7581531"/>
            <a:ext cx="4353627" cy="6659468"/>
          </a:xfrm>
          <a:custGeom>
            <a:avLst/>
            <a:gdLst/>
            <a:ahLst/>
            <a:cxnLst/>
            <a:rect l="l" t="t" r="r" b="b"/>
            <a:pathLst>
              <a:path w="4353627" h="6659468">
                <a:moveTo>
                  <a:pt x="0" y="0"/>
                </a:moveTo>
                <a:lnTo>
                  <a:pt x="4353628" y="0"/>
                </a:lnTo>
                <a:lnTo>
                  <a:pt x="4353628" y="6659468"/>
                </a:lnTo>
                <a:lnTo>
                  <a:pt x="0" y="665946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4" name="Freeform 4"/>
          <p:cNvSpPr/>
          <p:nvPr/>
        </p:nvSpPr>
        <p:spPr>
          <a:xfrm>
            <a:off x="8454784" y="8778679"/>
            <a:ext cx="1378431" cy="970071"/>
          </a:xfrm>
          <a:custGeom>
            <a:avLst/>
            <a:gdLst/>
            <a:ahLst/>
            <a:cxnLst/>
            <a:rect l="l" t="t" r="r" b="b"/>
            <a:pathLst>
              <a:path w="1378431" h="970071">
                <a:moveTo>
                  <a:pt x="0" y="0"/>
                </a:moveTo>
                <a:lnTo>
                  <a:pt x="1378432" y="0"/>
                </a:lnTo>
                <a:lnTo>
                  <a:pt x="1378432" y="970071"/>
                </a:lnTo>
                <a:lnTo>
                  <a:pt x="0" y="97007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grpSp>
        <p:nvGrpSpPr>
          <p:cNvPr id="5" name="Group 5"/>
          <p:cNvGrpSpPr/>
          <p:nvPr/>
        </p:nvGrpSpPr>
        <p:grpSpPr>
          <a:xfrm>
            <a:off x="2063338" y="6863552"/>
            <a:ext cx="14161324" cy="1315047"/>
            <a:chOff x="0" y="0"/>
            <a:chExt cx="8510092" cy="790263"/>
          </a:xfrm>
        </p:grpSpPr>
        <p:sp>
          <p:nvSpPr>
            <p:cNvPr id="6" name="Freeform 6"/>
            <p:cNvSpPr/>
            <p:nvPr/>
          </p:nvSpPr>
          <p:spPr>
            <a:xfrm>
              <a:off x="0" y="0"/>
              <a:ext cx="8510091" cy="790263"/>
            </a:xfrm>
            <a:custGeom>
              <a:avLst/>
              <a:gdLst/>
              <a:ahLst/>
              <a:cxnLst/>
              <a:rect l="l" t="t" r="r" b="b"/>
              <a:pathLst>
                <a:path w="8510091" h="790263">
                  <a:moveTo>
                    <a:pt x="16401" y="0"/>
                  </a:moveTo>
                  <a:lnTo>
                    <a:pt x="8493691" y="0"/>
                  </a:lnTo>
                  <a:cubicBezTo>
                    <a:pt x="8498040" y="0"/>
                    <a:pt x="8502212" y="1728"/>
                    <a:pt x="8505288" y="4804"/>
                  </a:cubicBezTo>
                  <a:cubicBezTo>
                    <a:pt x="8508364" y="7879"/>
                    <a:pt x="8510091" y="12051"/>
                    <a:pt x="8510091" y="16401"/>
                  </a:cubicBezTo>
                  <a:lnTo>
                    <a:pt x="8510091" y="773862"/>
                  </a:lnTo>
                  <a:cubicBezTo>
                    <a:pt x="8510091" y="782920"/>
                    <a:pt x="8502748" y="790263"/>
                    <a:pt x="8493691" y="790263"/>
                  </a:cubicBezTo>
                  <a:lnTo>
                    <a:pt x="16401" y="790263"/>
                  </a:lnTo>
                  <a:cubicBezTo>
                    <a:pt x="12051" y="790263"/>
                    <a:pt x="7879" y="788535"/>
                    <a:pt x="4804" y="785459"/>
                  </a:cubicBezTo>
                  <a:cubicBezTo>
                    <a:pt x="1728" y="782383"/>
                    <a:pt x="0" y="778212"/>
                    <a:pt x="0" y="773862"/>
                  </a:cubicBezTo>
                  <a:lnTo>
                    <a:pt x="0" y="16401"/>
                  </a:lnTo>
                  <a:cubicBezTo>
                    <a:pt x="0" y="12051"/>
                    <a:pt x="1728" y="7879"/>
                    <a:pt x="4804" y="4804"/>
                  </a:cubicBezTo>
                  <a:cubicBezTo>
                    <a:pt x="7879" y="1728"/>
                    <a:pt x="12051" y="0"/>
                    <a:pt x="16401" y="0"/>
                  </a:cubicBezTo>
                  <a:close/>
                </a:path>
              </a:pathLst>
            </a:custGeom>
            <a:solidFill>
              <a:srgbClr val="C61800"/>
            </a:solidFill>
            <a:ln w="57150" cap="rnd">
              <a:solidFill>
                <a:srgbClr val="000000"/>
              </a:solidFill>
              <a:prstDash val="solid"/>
              <a:round/>
            </a:ln>
          </p:spPr>
          <p:txBody>
            <a:bodyPr/>
            <a:lstStyle/>
            <a:p>
              <a:endParaRPr lang="fr-FR"/>
            </a:p>
          </p:txBody>
        </p:sp>
        <p:sp>
          <p:nvSpPr>
            <p:cNvPr id="7" name="TextBox 7"/>
            <p:cNvSpPr txBox="1"/>
            <p:nvPr/>
          </p:nvSpPr>
          <p:spPr>
            <a:xfrm>
              <a:off x="0" y="-38100"/>
              <a:ext cx="8510092" cy="8283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15805834" y="6358630"/>
            <a:ext cx="776045" cy="741123"/>
          </a:xfrm>
          <a:custGeom>
            <a:avLst/>
            <a:gdLst/>
            <a:ahLst/>
            <a:cxnLst/>
            <a:rect l="l" t="t" r="r" b="b"/>
            <a:pathLst>
              <a:path w="776045" h="741123">
                <a:moveTo>
                  <a:pt x="0" y="0"/>
                </a:moveTo>
                <a:lnTo>
                  <a:pt x="776045" y="0"/>
                </a:lnTo>
                <a:lnTo>
                  <a:pt x="776045" y="741123"/>
                </a:lnTo>
                <a:lnTo>
                  <a:pt x="0" y="7411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9" name="TextBox 9"/>
          <p:cNvSpPr txBox="1"/>
          <p:nvPr/>
        </p:nvSpPr>
        <p:spPr>
          <a:xfrm>
            <a:off x="2617543" y="7071178"/>
            <a:ext cx="12991303" cy="575945"/>
          </a:xfrm>
          <a:prstGeom prst="rect">
            <a:avLst/>
          </a:prstGeom>
        </p:spPr>
        <p:txBody>
          <a:bodyPr lIns="0" tIns="0" rIns="0" bIns="0" rtlCol="0" anchor="t">
            <a:spAutoFit/>
          </a:bodyPr>
          <a:lstStyle/>
          <a:p>
            <a:pPr marL="0" lvl="0" indent="0" algn="ctr">
              <a:lnSpc>
                <a:spcPts val="2380"/>
              </a:lnSpc>
            </a:pPr>
            <a:r>
              <a:rPr lang="en-US" sz="1700" b="1">
                <a:solidFill>
                  <a:srgbClr val="FFFFFF"/>
                </a:solidFill>
                <a:latin typeface="Canva Sans Bold"/>
                <a:ea typeface="Canva Sans Bold"/>
                <a:cs typeface="Canva Sans Bold"/>
                <a:sym typeface="Canva Sans Bold"/>
              </a:rPr>
              <a:t>Transmission des compétences aux seniors</a:t>
            </a:r>
          </a:p>
          <a:p>
            <a:pPr marL="0" lvl="0" indent="0" algn="ctr">
              <a:lnSpc>
                <a:spcPts val="2380"/>
              </a:lnSpc>
            </a:pPr>
            <a:r>
              <a:rPr lang="en-US" sz="1700" b="1">
                <a:solidFill>
                  <a:srgbClr val="FFFFFF"/>
                </a:solidFill>
                <a:latin typeface="Canva Sans Bold"/>
                <a:ea typeface="Canva Sans Bold"/>
                <a:cs typeface="Canva Sans Bold"/>
                <a:sym typeface="Canva Sans Bold"/>
              </a:rPr>
              <a:t>Accompagnement personnalisé pour l'autonomie numérique et le lien intergénérationnel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9227316" y="1217714"/>
            <a:ext cx="7839806" cy="8403801"/>
            <a:chOff x="0" y="0"/>
            <a:chExt cx="4711245" cy="5050171"/>
          </a:xfrm>
        </p:grpSpPr>
        <p:sp>
          <p:nvSpPr>
            <p:cNvPr id="3" name="Freeform 3"/>
            <p:cNvSpPr/>
            <p:nvPr/>
          </p:nvSpPr>
          <p:spPr>
            <a:xfrm>
              <a:off x="0" y="0"/>
              <a:ext cx="4711245" cy="5050172"/>
            </a:xfrm>
            <a:custGeom>
              <a:avLst/>
              <a:gdLst/>
              <a:ahLst/>
              <a:cxnLst/>
              <a:rect l="l" t="t" r="r" b="b"/>
              <a:pathLst>
                <a:path w="4711245" h="5050172">
                  <a:moveTo>
                    <a:pt x="29625" y="0"/>
                  </a:moveTo>
                  <a:lnTo>
                    <a:pt x="4681619" y="0"/>
                  </a:lnTo>
                  <a:cubicBezTo>
                    <a:pt x="4689476" y="0"/>
                    <a:pt x="4697012" y="3121"/>
                    <a:pt x="4702568" y="8677"/>
                  </a:cubicBezTo>
                  <a:cubicBezTo>
                    <a:pt x="4708123" y="14233"/>
                    <a:pt x="4711245" y="21768"/>
                    <a:pt x="4711245" y="29625"/>
                  </a:cubicBezTo>
                  <a:lnTo>
                    <a:pt x="4711245" y="5020546"/>
                  </a:lnTo>
                  <a:cubicBezTo>
                    <a:pt x="4711245" y="5036908"/>
                    <a:pt x="4697981" y="5050172"/>
                    <a:pt x="4681619" y="5050172"/>
                  </a:cubicBezTo>
                  <a:lnTo>
                    <a:pt x="29625" y="5050172"/>
                  </a:lnTo>
                  <a:cubicBezTo>
                    <a:pt x="21768" y="5050172"/>
                    <a:pt x="14233" y="5047050"/>
                    <a:pt x="8677" y="5041495"/>
                  </a:cubicBezTo>
                  <a:cubicBezTo>
                    <a:pt x="3121" y="5035939"/>
                    <a:pt x="0" y="5028403"/>
                    <a:pt x="0" y="5020546"/>
                  </a:cubicBezTo>
                  <a:lnTo>
                    <a:pt x="0" y="29625"/>
                  </a:lnTo>
                  <a:cubicBezTo>
                    <a:pt x="0" y="21768"/>
                    <a:pt x="3121" y="14233"/>
                    <a:pt x="8677" y="8677"/>
                  </a:cubicBezTo>
                  <a:cubicBezTo>
                    <a:pt x="14233" y="3121"/>
                    <a:pt x="21768" y="0"/>
                    <a:pt x="29625"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4711245" cy="508827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flipV="1">
            <a:off x="746881" y="8699215"/>
            <a:ext cx="985100" cy="922300"/>
          </a:xfrm>
          <a:custGeom>
            <a:avLst/>
            <a:gdLst/>
            <a:ahLst/>
            <a:cxnLst/>
            <a:rect l="l" t="t" r="r" b="b"/>
            <a:pathLst>
              <a:path w="985100" h="922300">
                <a:moveTo>
                  <a:pt x="0" y="922300"/>
                </a:moveTo>
                <a:lnTo>
                  <a:pt x="985100" y="922300"/>
                </a:lnTo>
                <a:lnTo>
                  <a:pt x="985100" y="0"/>
                </a:lnTo>
                <a:lnTo>
                  <a:pt x="0" y="0"/>
                </a:lnTo>
                <a:lnTo>
                  <a:pt x="0" y="9223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6" name="AutoShape 6"/>
          <p:cNvSpPr/>
          <p:nvPr/>
        </p:nvSpPr>
        <p:spPr>
          <a:xfrm flipH="1">
            <a:off x="10146077" y="2420500"/>
            <a:ext cx="6110835" cy="1282"/>
          </a:xfrm>
          <a:prstGeom prst="line">
            <a:avLst/>
          </a:prstGeom>
          <a:ln w="28575" cap="flat">
            <a:solidFill>
              <a:srgbClr val="000000"/>
            </a:solidFill>
            <a:prstDash val="solid"/>
            <a:headEnd type="none" w="sm" len="sm"/>
            <a:tailEnd type="none" w="sm" len="sm"/>
          </a:ln>
        </p:spPr>
        <p:txBody>
          <a:bodyPr/>
          <a:lstStyle/>
          <a:p>
            <a:endParaRPr lang="fr-FR"/>
          </a:p>
        </p:txBody>
      </p:sp>
      <p:sp>
        <p:nvSpPr>
          <p:cNvPr id="7" name="Freeform 7"/>
          <p:cNvSpPr/>
          <p:nvPr/>
        </p:nvSpPr>
        <p:spPr>
          <a:xfrm>
            <a:off x="1650712" y="3730528"/>
            <a:ext cx="6141287" cy="4751821"/>
          </a:xfrm>
          <a:custGeom>
            <a:avLst/>
            <a:gdLst/>
            <a:ahLst/>
            <a:cxnLst/>
            <a:rect l="l" t="t" r="r" b="b"/>
            <a:pathLst>
              <a:path w="6141287" h="4751821">
                <a:moveTo>
                  <a:pt x="0" y="0"/>
                </a:moveTo>
                <a:lnTo>
                  <a:pt x="6141287" y="0"/>
                </a:lnTo>
                <a:lnTo>
                  <a:pt x="6141287" y="4751820"/>
                </a:lnTo>
                <a:lnTo>
                  <a:pt x="0" y="4751820"/>
                </a:lnTo>
                <a:lnTo>
                  <a:pt x="0" y="0"/>
                </a:lnTo>
                <a:close/>
              </a:path>
            </a:pathLst>
          </a:custGeom>
          <a:blipFill>
            <a:blip r:embed="rId3"/>
            <a:stretch>
              <a:fillRect/>
            </a:stretch>
          </a:blipFill>
        </p:spPr>
        <p:txBody>
          <a:bodyPr/>
          <a:lstStyle/>
          <a:p>
            <a:endParaRPr lang="fr-FR"/>
          </a:p>
        </p:txBody>
      </p:sp>
      <p:sp>
        <p:nvSpPr>
          <p:cNvPr id="8" name="TextBox 8"/>
          <p:cNvSpPr txBox="1"/>
          <p:nvPr/>
        </p:nvSpPr>
        <p:spPr>
          <a:xfrm>
            <a:off x="1220878" y="1112939"/>
            <a:ext cx="7228341" cy="1749514"/>
          </a:xfrm>
          <a:prstGeom prst="rect">
            <a:avLst/>
          </a:prstGeom>
        </p:spPr>
        <p:txBody>
          <a:bodyPr lIns="0" tIns="0" rIns="0" bIns="0" rtlCol="0" anchor="t">
            <a:spAutoFit/>
          </a:bodyPr>
          <a:lstStyle/>
          <a:p>
            <a:pPr marL="0" lvl="0" indent="0" algn="l">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UNE DÉMARCHE SOLIDAIRE</a:t>
            </a:r>
          </a:p>
        </p:txBody>
      </p:sp>
      <p:sp>
        <p:nvSpPr>
          <p:cNvPr id="9" name="TextBox 9"/>
          <p:cNvSpPr txBox="1"/>
          <p:nvPr/>
        </p:nvSpPr>
        <p:spPr>
          <a:xfrm>
            <a:off x="10148289" y="1849671"/>
            <a:ext cx="5486311" cy="423589"/>
          </a:xfrm>
          <a:prstGeom prst="rect">
            <a:avLst/>
          </a:prstGeom>
        </p:spPr>
        <p:txBody>
          <a:bodyPr lIns="0" tIns="0" rIns="0" bIns="0" rtlCol="0" anchor="t">
            <a:spAutoFit/>
          </a:bodyPr>
          <a:lstStyle/>
          <a:p>
            <a:pPr marL="0" lvl="0" indent="0" algn="l">
              <a:lnSpc>
                <a:spcPts val="3427"/>
              </a:lnSpc>
              <a:spcBef>
                <a:spcPct val="0"/>
              </a:spcBef>
            </a:pPr>
            <a:r>
              <a:rPr lang="en-US" sz="2448">
                <a:solidFill>
                  <a:srgbClr val="000000"/>
                </a:solidFill>
                <a:latin typeface="Cy Grotesk Key"/>
                <a:ea typeface="Cy Grotesk Key"/>
                <a:cs typeface="Cy Grotesk Key"/>
                <a:sym typeface="Cy Grotesk Key"/>
              </a:rPr>
              <a:t>Entraide, partage et utilité sociale</a:t>
            </a:r>
          </a:p>
        </p:txBody>
      </p:sp>
      <p:sp>
        <p:nvSpPr>
          <p:cNvPr id="10" name="TextBox 10"/>
          <p:cNvSpPr txBox="1"/>
          <p:nvPr/>
        </p:nvSpPr>
        <p:spPr>
          <a:xfrm>
            <a:off x="10148289" y="2818268"/>
            <a:ext cx="6108623" cy="4657090"/>
          </a:xfrm>
          <a:prstGeom prst="rect">
            <a:avLst/>
          </a:prstGeom>
        </p:spPr>
        <p:txBody>
          <a:bodyPr lIns="0" tIns="0" rIns="0" bIns="0" rtlCol="0" anchor="t">
            <a:spAutoFit/>
          </a:bodyPr>
          <a:lstStyle/>
          <a:p>
            <a:pPr marL="0" lvl="0" indent="0" algn="l">
              <a:lnSpc>
                <a:spcPts val="2659"/>
              </a:lnSpc>
            </a:pPr>
            <a:r>
              <a:rPr lang="en-US" sz="1899">
                <a:solidFill>
                  <a:srgbClr val="000000"/>
                </a:solidFill>
                <a:latin typeface="Canva Sans"/>
                <a:ea typeface="Canva Sans"/>
                <a:cs typeface="Canva Sans"/>
                <a:sym typeface="Canva Sans"/>
              </a:rPr>
              <a:t>Ce projet repose sur des valeurs fondamentales d'entraide, de partage et d'utilité sociale. Il vise à accompagner les structures accueillant des personnes âgées dans leur transition numérique.</a:t>
            </a:r>
          </a:p>
          <a:p>
            <a:pPr marL="0" lvl="0" indent="0" algn="l">
              <a:lnSpc>
                <a:spcPts val="2659"/>
              </a:lnSpc>
            </a:pPr>
            <a:r>
              <a:rPr lang="en-US" sz="1899">
                <a:solidFill>
                  <a:srgbClr val="000000"/>
                </a:solidFill>
                <a:latin typeface="Canva Sans"/>
                <a:ea typeface="Canva Sans"/>
                <a:cs typeface="Canva Sans"/>
                <a:sym typeface="Canva Sans"/>
              </a:rPr>
              <a:t>L'objectif principal est la réduction de l'isolement numérique des seniors, en améliorant leur communication avec leurs proches et en facilitant leur accès aux services en ligne.</a:t>
            </a:r>
          </a:p>
          <a:p>
            <a:pPr marL="0" lvl="0" indent="0" algn="l">
              <a:lnSpc>
                <a:spcPts val="2659"/>
              </a:lnSpc>
            </a:pPr>
            <a:r>
              <a:rPr lang="en-US" sz="1899">
                <a:solidFill>
                  <a:srgbClr val="000000"/>
                </a:solidFill>
                <a:latin typeface="Canva Sans"/>
                <a:ea typeface="Canva Sans"/>
                <a:cs typeface="Canva Sans"/>
                <a:sym typeface="Canva Sans"/>
              </a:rPr>
              <a:t>Le projet intègre également une démarche écologique et solidaire grâce au réemploi de matériel informatique. Les équipements reconditionnés permettent d'équiper les ateliers et les structures partenaires, tout en limitant l'impact environnemental.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rot="1880678">
            <a:off x="13390969" y="40368"/>
            <a:ext cx="7315200" cy="1250234"/>
          </a:xfrm>
          <a:custGeom>
            <a:avLst/>
            <a:gdLst/>
            <a:ahLst/>
            <a:cxnLst/>
            <a:rect l="l" t="t" r="r" b="b"/>
            <a:pathLst>
              <a:path w="7315200" h="1250234">
                <a:moveTo>
                  <a:pt x="0" y="0"/>
                </a:moveTo>
                <a:lnTo>
                  <a:pt x="7315200" y="0"/>
                </a:lnTo>
                <a:lnTo>
                  <a:pt x="7315200" y="1250235"/>
                </a:lnTo>
                <a:lnTo>
                  <a:pt x="0" y="125023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grpSp>
        <p:nvGrpSpPr>
          <p:cNvPr id="3" name="Group 3"/>
          <p:cNvGrpSpPr/>
          <p:nvPr/>
        </p:nvGrpSpPr>
        <p:grpSpPr>
          <a:xfrm>
            <a:off x="1352550" y="645047"/>
            <a:ext cx="15582900" cy="4322240"/>
            <a:chOff x="0" y="0"/>
            <a:chExt cx="9364372" cy="2597403"/>
          </a:xfrm>
        </p:grpSpPr>
        <p:sp>
          <p:nvSpPr>
            <p:cNvPr id="4" name="Freeform 4"/>
            <p:cNvSpPr/>
            <p:nvPr/>
          </p:nvSpPr>
          <p:spPr>
            <a:xfrm>
              <a:off x="0" y="0"/>
              <a:ext cx="9364372" cy="2597403"/>
            </a:xfrm>
            <a:custGeom>
              <a:avLst/>
              <a:gdLst/>
              <a:ahLst/>
              <a:cxnLst/>
              <a:rect l="l" t="t" r="r" b="b"/>
              <a:pathLst>
                <a:path w="9364372" h="2597403">
                  <a:moveTo>
                    <a:pt x="14905" y="0"/>
                  </a:moveTo>
                  <a:lnTo>
                    <a:pt x="9349467" y="0"/>
                  </a:lnTo>
                  <a:cubicBezTo>
                    <a:pt x="9353420" y="0"/>
                    <a:pt x="9357211" y="1570"/>
                    <a:pt x="9360006" y="4365"/>
                  </a:cubicBezTo>
                  <a:cubicBezTo>
                    <a:pt x="9362801" y="7161"/>
                    <a:pt x="9364372" y="10952"/>
                    <a:pt x="9364372" y="14905"/>
                  </a:cubicBezTo>
                  <a:lnTo>
                    <a:pt x="9364372" y="2582498"/>
                  </a:lnTo>
                  <a:cubicBezTo>
                    <a:pt x="9364372" y="2586451"/>
                    <a:pt x="9362801" y="2590242"/>
                    <a:pt x="9360006" y="2593037"/>
                  </a:cubicBezTo>
                  <a:cubicBezTo>
                    <a:pt x="9357211" y="2595832"/>
                    <a:pt x="9353420" y="2597403"/>
                    <a:pt x="9349467" y="2597403"/>
                  </a:cubicBezTo>
                  <a:lnTo>
                    <a:pt x="14905" y="2597403"/>
                  </a:lnTo>
                  <a:cubicBezTo>
                    <a:pt x="10952" y="2597403"/>
                    <a:pt x="7161" y="2595832"/>
                    <a:pt x="4365" y="2593037"/>
                  </a:cubicBezTo>
                  <a:cubicBezTo>
                    <a:pt x="1570" y="2590242"/>
                    <a:pt x="0" y="2586451"/>
                    <a:pt x="0" y="2582498"/>
                  </a:cubicBezTo>
                  <a:lnTo>
                    <a:pt x="0" y="14905"/>
                  </a:lnTo>
                  <a:cubicBezTo>
                    <a:pt x="0" y="10952"/>
                    <a:pt x="1570" y="7161"/>
                    <a:pt x="4365" y="4365"/>
                  </a:cubicBezTo>
                  <a:cubicBezTo>
                    <a:pt x="7161" y="1570"/>
                    <a:pt x="10952" y="0"/>
                    <a:pt x="14905" y="0"/>
                  </a:cubicBezTo>
                  <a:close/>
                </a:path>
              </a:pathLst>
            </a:custGeom>
            <a:solidFill>
              <a:srgbClr val="FFFFFF"/>
            </a:solidFill>
            <a:ln w="19050" cap="rnd">
              <a:solidFill>
                <a:srgbClr val="000000"/>
              </a:solidFill>
              <a:prstDash val="solid"/>
              <a:round/>
            </a:ln>
          </p:spPr>
          <p:txBody>
            <a:bodyPr/>
            <a:lstStyle/>
            <a:p>
              <a:endParaRPr lang="fr-FR"/>
            </a:p>
          </p:txBody>
        </p:sp>
        <p:sp>
          <p:nvSpPr>
            <p:cNvPr id="5" name="TextBox 5"/>
            <p:cNvSpPr txBox="1"/>
            <p:nvPr/>
          </p:nvSpPr>
          <p:spPr>
            <a:xfrm>
              <a:off x="0" y="-38100"/>
              <a:ext cx="9364372" cy="263550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2032532" y="1215362"/>
            <a:ext cx="6339782" cy="373951"/>
          </a:xfrm>
          <a:prstGeom prst="rect">
            <a:avLst/>
          </a:prstGeom>
        </p:spPr>
        <p:txBody>
          <a:bodyPr lIns="0" tIns="0" rIns="0" bIns="0" rtlCol="0" anchor="t">
            <a:spAutoFit/>
          </a:bodyPr>
          <a:lstStyle/>
          <a:p>
            <a:pPr marL="0" lvl="0" indent="0" algn="l">
              <a:lnSpc>
                <a:spcPts val="3013"/>
              </a:lnSpc>
              <a:spcBef>
                <a:spcPct val="0"/>
              </a:spcBef>
            </a:pPr>
            <a:r>
              <a:rPr lang="en-US" sz="2152" b="1">
                <a:solidFill>
                  <a:srgbClr val="C61800"/>
                </a:solidFill>
                <a:latin typeface="Cy Grotesk Key Semi-Bold"/>
                <a:ea typeface="Cy Grotesk Key Semi-Bold"/>
                <a:cs typeface="Cy Grotesk Key Semi-Bold"/>
                <a:sym typeface="Cy Grotesk Key Semi-Bold"/>
              </a:rPr>
              <a:t>LUTTER CONTRE LA FRACTURE NUMÉRIQUE</a:t>
            </a:r>
          </a:p>
        </p:txBody>
      </p:sp>
      <p:sp>
        <p:nvSpPr>
          <p:cNvPr id="7" name="AutoShape 7"/>
          <p:cNvSpPr/>
          <p:nvPr/>
        </p:nvSpPr>
        <p:spPr>
          <a:xfrm>
            <a:off x="8372315" y="1581122"/>
            <a:ext cx="7883153" cy="0"/>
          </a:xfrm>
          <a:prstGeom prst="line">
            <a:avLst/>
          </a:prstGeom>
          <a:ln w="19050" cap="flat">
            <a:solidFill>
              <a:srgbClr val="000000"/>
            </a:solidFill>
            <a:prstDash val="solid"/>
            <a:headEnd type="none" w="sm" len="sm"/>
            <a:tailEnd type="none" w="sm" len="sm"/>
          </a:ln>
        </p:spPr>
        <p:txBody>
          <a:bodyPr/>
          <a:lstStyle/>
          <a:p>
            <a:endParaRPr lang="fr-FR"/>
          </a:p>
        </p:txBody>
      </p:sp>
      <p:grpSp>
        <p:nvGrpSpPr>
          <p:cNvPr id="8" name="Group 8"/>
          <p:cNvGrpSpPr/>
          <p:nvPr/>
        </p:nvGrpSpPr>
        <p:grpSpPr>
          <a:xfrm>
            <a:off x="1352550" y="5319712"/>
            <a:ext cx="15582900" cy="4322240"/>
            <a:chOff x="0" y="0"/>
            <a:chExt cx="9364372" cy="2597403"/>
          </a:xfrm>
        </p:grpSpPr>
        <p:sp>
          <p:nvSpPr>
            <p:cNvPr id="9" name="Freeform 9"/>
            <p:cNvSpPr/>
            <p:nvPr/>
          </p:nvSpPr>
          <p:spPr>
            <a:xfrm>
              <a:off x="0" y="0"/>
              <a:ext cx="9364372" cy="2597403"/>
            </a:xfrm>
            <a:custGeom>
              <a:avLst/>
              <a:gdLst/>
              <a:ahLst/>
              <a:cxnLst/>
              <a:rect l="l" t="t" r="r" b="b"/>
              <a:pathLst>
                <a:path w="9364372" h="2597403">
                  <a:moveTo>
                    <a:pt x="14905" y="0"/>
                  </a:moveTo>
                  <a:lnTo>
                    <a:pt x="9349467" y="0"/>
                  </a:lnTo>
                  <a:cubicBezTo>
                    <a:pt x="9353420" y="0"/>
                    <a:pt x="9357211" y="1570"/>
                    <a:pt x="9360006" y="4365"/>
                  </a:cubicBezTo>
                  <a:cubicBezTo>
                    <a:pt x="9362801" y="7161"/>
                    <a:pt x="9364372" y="10952"/>
                    <a:pt x="9364372" y="14905"/>
                  </a:cubicBezTo>
                  <a:lnTo>
                    <a:pt x="9364372" y="2582498"/>
                  </a:lnTo>
                  <a:cubicBezTo>
                    <a:pt x="9364372" y="2586451"/>
                    <a:pt x="9362801" y="2590242"/>
                    <a:pt x="9360006" y="2593037"/>
                  </a:cubicBezTo>
                  <a:cubicBezTo>
                    <a:pt x="9357211" y="2595832"/>
                    <a:pt x="9353420" y="2597403"/>
                    <a:pt x="9349467" y="2597403"/>
                  </a:cubicBezTo>
                  <a:lnTo>
                    <a:pt x="14905" y="2597403"/>
                  </a:lnTo>
                  <a:cubicBezTo>
                    <a:pt x="10952" y="2597403"/>
                    <a:pt x="7161" y="2595832"/>
                    <a:pt x="4365" y="2593037"/>
                  </a:cubicBezTo>
                  <a:cubicBezTo>
                    <a:pt x="1570" y="2590242"/>
                    <a:pt x="0" y="2586451"/>
                    <a:pt x="0" y="2582498"/>
                  </a:cubicBezTo>
                  <a:lnTo>
                    <a:pt x="0" y="14905"/>
                  </a:lnTo>
                  <a:cubicBezTo>
                    <a:pt x="0" y="10952"/>
                    <a:pt x="1570" y="7161"/>
                    <a:pt x="4365" y="4365"/>
                  </a:cubicBezTo>
                  <a:cubicBezTo>
                    <a:pt x="7161" y="1570"/>
                    <a:pt x="10952" y="0"/>
                    <a:pt x="14905" y="0"/>
                  </a:cubicBezTo>
                  <a:close/>
                </a:path>
              </a:pathLst>
            </a:custGeom>
            <a:solidFill>
              <a:srgbClr val="FFFFFF"/>
            </a:solidFill>
            <a:ln w="19050" cap="rnd">
              <a:solidFill>
                <a:srgbClr val="000000"/>
              </a:solidFill>
              <a:prstDash val="solid"/>
              <a:round/>
            </a:ln>
          </p:spPr>
          <p:txBody>
            <a:bodyPr/>
            <a:lstStyle/>
            <a:p>
              <a:endParaRPr lang="fr-FR"/>
            </a:p>
          </p:txBody>
        </p:sp>
        <p:sp>
          <p:nvSpPr>
            <p:cNvPr id="10" name="TextBox 10"/>
            <p:cNvSpPr txBox="1"/>
            <p:nvPr/>
          </p:nvSpPr>
          <p:spPr>
            <a:xfrm>
              <a:off x="0" y="-38100"/>
              <a:ext cx="9364372" cy="263550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2032532" y="5890027"/>
            <a:ext cx="9619114" cy="373951"/>
          </a:xfrm>
          <a:prstGeom prst="rect">
            <a:avLst/>
          </a:prstGeom>
        </p:spPr>
        <p:txBody>
          <a:bodyPr lIns="0" tIns="0" rIns="0" bIns="0" rtlCol="0" anchor="t">
            <a:spAutoFit/>
          </a:bodyPr>
          <a:lstStyle/>
          <a:p>
            <a:pPr marL="0" lvl="0" indent="0" algn="l">
              <a:lnSpc>
                <a:spcPts val="3013"/>
              </a:lnSpc>
              <a:spcBef>
                <a:spcPct val="0"/>
              </a:spcBef>
            </a:pPr>
            <a:r>
              <a:rPr lang="en-US" sz="2152" b="1">
                <a:solidFill>
                  <a:srgbClr val="000000"/>
                </a:solidFill>
                <a:latin typeface="Cy Grotesk Key Semi-Bold"/>
                <a:ea typeface="Cy Grotesk Key Semi-Bold"/>
                <a:cs typeface="Cy Grotesk Key Semi-Bold"/>
                <a:sym typeface="Cy Grotesk Key Semi-Bold"/>
              </a:rPr>
              <a:t>ACTIONS CONCRÈTES ET IMPACT</a:t>
            </a:r>
          </a:p>
        </p:txBody>
      </p:sp>
      <p:sp>
        <p:nvSpPr>
          <p:cNvPr id="12" name="AutoShape 12"/>
          <p:cNvSpPr/>
          <p:nvPr/>
        </p:nvSpPr>
        <p:spPr>
          <a:xfrm>
            <a:off x="11651647" y="6255787"/>
            <a:ext cx="4603821" cy="70802"/>
          </a:xfrm>
          <a:prstGeom prst="line">
            <a:avLst/>
          </a:prstGeom>
          <a:ln w="19050" cap="flat">
            <a:solidFill>
              <a:srgbClr val="000000"/>
            </a:solidFill>
            <a:prstDash val="solid"/>
            <a:headEnd type="none" w="sm" len="sm"/>
            <a:tailEnd type="none" w="sm" len="sm"/>
          </a:ln>
        </p:spPr>
        <p:txBody>
          <a:bodyPr/>
          <a:lstStyle/>
          <a:p>
            <a:endParaRPr lang="fr-FR"/>
          </a:p>
        </p:txBody>
      </p:sp>
      <p:sp>
        <p:nvSpPr>
          <p:cNvPr id="13" name="TextBox 13"/>
          <p:cNvSpPr txBox="1"/>
          <p:nvPr/>
        </p:nvSpPr>
        <p:spPr>
          <a:xfrm>
            <a:off x="2032532" y="2222124"/>
            <a:ext cx="14222935" cy="1461770"/>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Notre projet déploie plusieurs actions complémentaires pour réduire les inégalités numériques à Vigneux-sur-Seine. Les ateliers intergénérationnels créent des espaces d'échange entre jeunes et seniors, deux fois par semaine. La formation des jeunes leur permet de devenir animateurs et transmetteurs de compétences. L'accompagnement personnalisé des seniors favorise leur autonomie dans les démarches en ligne. L'amélioration des réseaux informatiques modernise les structures locales. Le réemploi du matériel informatique équipe durablement les ateliers et partenaires.</a:t>
            </a:r>
          </a:p>
        </p:txBody>
      </p:sp>
      <p:sp>
        <p:nvSpPr>
          <p:cNvPr id="14" name="TextBox 14"/>
          <p:cNvSpPr txBox="1"/>
          <p:nvPr/>
        </p:nvSpPr>
        <p:spPr>
          <a:xfrm>
            <a:off x="2032532" y="6896789"/>
            <a:ext cx="14222935" cy="1461770"/>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Ces actions génèrent un impact significatif sur le territoire. L'inclusion numérique devient réalité pour des publics jusqu'alors éloignés des outils digitaux. L'autonomie des seniors se renforce grâce à la maîtrise des démarches administratives en ligne et de la communication avec leurs proches. L'égalité des chances progresse en offrant à tous un accès équitable aux ressources numériques. Le lien social se tisse entre générations, transformant la fracture numérique en pont de solidarité. Le numérique devient ainsi un véritable levier de cohésion sociale et de développement local.</a:t>
            </a:r>
          </a:p>
        </p:txBody>
      </p:sp>
      <p:sp>
        <p:nvSpPr>
          <p:cNvPr id="15" name="Freeform 15"/>
          <p:cNvSpPr/>
          <p:nvPr/>
        </p:nvSpPr>
        <p:spPr>
          <a:xfrm rot="1880678" flipV="1">
            <a:off x="-3167092" y="8776506"/>
            <a:ext cx="7315200" cy="1250234"/>
          </a:xfrm>
          <a:custGeom>
            <a:avLst/>
            <a:gdLst/>
            <a:ahLst/>
            <a:cxnLst/>
            <a:rect l="l" t="t" r="r" b="b"/>
            <a:pathLst>
              <a:path w="7315200" h="1250234">
                <a:moveTo>
                  <a:pt x="0" y="1250234"/>
                </a:moveTo>
                <a:lnTo>
                  <a:pt x="7315200" y="1250234"/>
                </a:lnTo>
                <a:lnTo>
                  <a:pt x="7315200" y="0"/>
                </a:lnTo>
                <a:lnTo>
                  <a:pt x="0" y="0"/>
                </a:lnTo>
                <a:lnTo>
                  <a:pt x="0" y="1250234"/>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52550" y="1119693"/>
            <a:ext cx="15582900" cy="4084115"/>
            <a:chOff x="0" y="0"/>
            <a:chExt cx="9364372" cy="2454304"/>
          </a:xfrm>
        </p:grpSpPr>
        <p:sp>
          <p:nvSpPr>
            <p:cNvPr id="3" name="Freeform 3"/>
            <p:cNvSpPr/>
            <p:nvPr/>
          </p:nvSpPr>
          <p:spPr>
            <a:xfrm>
              <a:off x="0" y="0"/>
              <a:ext cx="9364372" cy="2454304"/>
            </a:xfrm>
            <a:custGeom>
              <a:avLst/>
              <a:gdLst/>
              <a:ahLst/>
              <a:cxnLst/>
              <a:rect l="l" t="t" r="r" b="b"/>
              <a:pathLst>
                <a:path w="9364372" h="2454304">
                  <a:moveTo>
                    <a:pt x="14905" y="0"/>
                  </a:moveTo>
                  <a:lnTo>
                    <a:pt x="9349467" y="0"/>
                  </a:lnTo>
                  <a:cubicBezTo>
                    <a:pt x="9353420" y="0"/>
                    <a:pt x="9357211" y="1570"/>
                    <a:pt x="9360006" y="4365"/>
                  </a:cubicBezTo>
                  <a:cubicBezTo>
                    <a:pt x="9362801" y="7161"/>
                    <a:pt x="9364372" y="10952"/>
                    <a:pt x="9364372" y="14905"/>
                  </a:cubicBezTo>
                  <a:lnTo>
                    <a:pt x="9364372" y="2439399"/>
                  </a:lnTo>
                  <a:cubicBezTo>
                    <a:pt x="9364372" y="2443352"/>
                    <a:pt x="9362801" y="2447143"/>
                    <a:pt x="9360006" y="2449939"/>
                  </a:cubicBezTo>
                  <a:cubicBezTo>
                    <a:pt x="9357211" y="2452734"/>
                    <a:pt x="9353420" y="2454304"/>
                    <a:pt x="9349467" y="2454304"/>
                  </a:cubicBezTo>
                  <a:lnTo>
                    <a:pt x="14905" y="2454304"/>
                  </a:lnTo>
                  <a:cubicBezTo>
                    <a:pt x="10952" y="2454304"/>
                    <a:pt x="7161" y="2452734"/>
                    <a:pt x="4365" y="2449939"/>
                  </a:cubicBezTo>
                  <a:cubicBezTo>
                    <a:pt x="1570" y="2447143"/>
                    <a:pt x="0" y="2443352"/>
                    <a:pt x="0" y="2439399"/>
                  </a:cubicBezTo>
                  <a:lnTo>
                    <a:pt x="0" y="14905"/>
                  </a:lnTo>
                  <a:cubicBezTo>
                    <a:pt x="0" y="10952"/>
                    <a:pt x="1570" y="7161"/>
                    <a:pt x="4365" y="4365"/>
                  </a:cubicBezTo>
                  <a:cubicBezTo>
                    <a:pt x="7161" y="1570"/>
                    <a:pt x="10952" y="0"/>
                    <a:pt x="14905"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9364372" cy="24924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2032532" y="1690008"/>
            <a:ext cx="9656864" cy="414876"/>
          </a:xfrm>
          <a:prstGeom prst="rect">
            <a:avLst/>
          </a:prstGeom>
        </p:spPr>
        <p:txBody>
          <a:bodyPr lIns="0" tIns="0" rIns="0" bIns="0" rtlCol="0" anchor="t">
            <a:spAutoFit/>
          </a:bodyPr>
          <a:lstStyle/>
          <a:p>
            <a:pPr marL="0" lvl="0" indent="0" algn="l">
              <a:lnSpc>
                <a:spcPts val="3382"/>
              </a:lnSpc>
              <a:spcBef>
                <a:spcPct val="0"/>
              </a:spcBef>
            </a:pPr>
            <a:r>
              <a:rPr lang="en-US" sz="2416" b="1">
                <a:solidFill>
                  <a:srgbClr val="C61800"/>
                </a:solidFill>
                <a:latin typeface="Cy Grotesk Key Semi-Bold"/>
                <a:ea typeface="Cy Grotesk Key Semi-Bold"/>
                <a:cs typeface="Cy Grotesk Key Semi-Bold"/>
                <a:sym typeface="Cy Grotesk Key Semi-Bold"/>
              </a:rPr>
              <a:t>FAVORISER L'ENGAGEMENT DES JEUNES</a:t>
            </a:r>
          </a:p>
        </p:txBody>
      </p:sp>
      <p:sp>
        <p:nvSpPr>
          <p:cNvPr id="6" name="AutoShape 6"/>
          <p:cNvSpPr/>
          <p:nvPr/>
        </p:nvSpPr>
        <p:spPr>
          <a:xfrm>
            <a:off x="11689396" y="2055768"/>
            <a:ext cx="4566072" cy="70802"/>
          </a:xfrm>
          <a:prstGeom prst="line">
            <a:avLst/>
          </a:prstGeom>
          <a:ln w="19050" cap="flat">
            <a:solidFill>
              <a:srgbClr val="000000"/>
            </a:solidFill>
            <a:prstDash val="solid"/>
            <a:headEnd type="none" w="sm" len="sm"/>
            <a:tailEnd type="none" w="sm" len="sm"/>
          </a:ln>
        </p:spPr>
        <p:txBody>
          <a:bodyPr/>
          <a:lstStyle/>
          <a:p>
            <a:endParaRPr lang="fr-FR"/>
          </a:p>
        </p:txBody>
      </p:sp>
      <p:grpSp>
        <p:nvGrpSpPr>
          <p:cNvPr id="7" name="Group 7"/>
          <p:cNvGrpSpPr/>
          <p:nvPr/>
        </p:nvGrpSpPr>
        <p:grpSpPr>
          <a:xfrm>
            <a:off x="1352550" y="5594334"/>
            <a:ext cx="15582900" cy="3572973"/>
            <a:chOff x="0" y="0"/>
            <a:chExt cx="9364372" cy="2147139"/>
          </a:xfrm>
        </p:grpSpPr>
        <p:sp>
          <p:nvSpPr>
            <p:cNvPr id="8" name="Freeform 8"/>
            <p:cNvSpPr/>
            <p:nvPr/>
          </p:nvSpPr>
          <p:spPr>
            <a:xfrm>
              <a:off x="0" y="0"/>
              <a:ext cx="9364372" cy="2147139"/>
            </a:xfrm>
            <a:custGeom>
              <a:avLst/>
              <a:gdLst/>
              <a:ahLst/>
              <a:cxnLst/>
              <a:rect l="l" t="t" r="r" b="b"/>
              <a:pathLst>
                <a:path w="9364372" h="2147139">
                  <a:moveTo>
                    <a:pt x="14905" y="0"/>
                  </a:moveTo>
                  <a:lnTo>
                    <a:pt x="9349467" y="0"/>
                  </a:lnTo>
                  <a:cubicBezTo>
                    <a:pt x="9353420" y="0"/>
                    <a:pt x="9357211" y="1570"/>
                    <a:pt x="9360006" y="4365"/>
                  </a:cubicBezTo>
                  <a:cubicBezTo>
                    <a:pt x="9362801" y="7161"/>
                    <a:pt x="9364372" y="10952"/>
                    <a:pt x="9364372" y="14905"/>
                  </a:cubicBezTo>
                  <a:lnTo>
                    <a:pt x="9364372" y="2132234"/>
                  </a:lnTo>
                  <a:cubicBezTo>
                    <a:pt x="9364372" y="2136187"/>
                    <a:pt x="9362801" y="2139978"/>
                    <a:pt x="9360006" y="2142773"/>
                  </a:cubicBezTo>
                  <a:cubicBezTo>
                    <a:pt x="9357211" y="2145569"/>
                    <a:pt x="9353420" y="2147139"/>
                    <a:pt x="9349467" y="2147139"/>
                  </a:cubicBezTo>
                  <a:lnTo>
                    <a:pt x="14905" y="2147139"/>
                  </a:lnTo>
                  <a:cubicBezTo>
                    <a:pt x="6673" y="2147139"/>
                    <a:pt x="0" y="2140466"/>
                    <a:pt x="0" y="2132234"/>
                  </a:cubicBezTo>
                  <a:lnTo>
                    <a:pt x="0" y="14905"/>
                  </a:lnTo>
                  <a:cubicBezTo>
                    <a:pt x="0" y="10952"/>
                    <a:pt x="1570" y="7161"/>
                    <a:pt x="4365" y="4365"/>
                  </a:cubicBezTo>
                  <a:cubicBezTo>
                    <a:pt x="7161" y="1570"/>
                    <a:pt x="10952" y="0"/>
                    <a:pt x="14905" y="0"/>
                  </a:cubicBezTo>
                  <a:close/>
                </a:path>
              </a:pathLst>
            </a:custGeom>
            <a:solidFill>
              <a:srgbClr val="FFFFFF"/>
            </a:solidFill>
            <a:ln w="19050" cap="rnd">
              <a:solidFill>
                <a:srgbClr val="000000"/>
              </a:solidFill>
              <a:prstDash val="solid"/>
              <a:round/>
            </a:ln>
          </p:spPr>
          <p:txBody>
            <a:bodyPr/>
            <a:lstStyle/>
            <a:p>
              <a:endParaRPr lang="fr-FR"/>
            </a:p>
          </p:txBody>
        </p:sp>
        <p:sp>
          <p:nvSpPr>
            <p:cNvPr id="9" name="TextBox 9"/>
            <p:cNvSpPr txBox="1"/>
            <p:nvPr/>
          </p:nvSpPr>
          <p:spPr>
            <a:xfrm>
              <a:off x="0" y="-38100"/>
              <a:ext cx="9364372" cy="21852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2032532" y="6164648"/>
            <a:ext cx="7549592" cy="414876"/>
          </a:xfrm>
          <a:prstGeom prst="rect">
            <a:avLst/>
          </a:prstGeom>
        </p:spPr>
        <p:txBody>
          <a:bodyPr lIns="0" tIns="0" rIns="0" bIns="0" rtlCol="0" anchor="t">
            <a:spAutoFit/>
          </a:bodyPr>
          <a:lstStyle/>
          <a:p>
            <a:pPr marL="0" lvl="0" indent="0" algn="l">
              <a:lnSpc>
                <a:spcPts val="3382"/>
              </a:lnSpc>
              <a:spcBef>
                <a:spcPct val="0"/>
              </a:spcBef>
            </a:pPr>
            <a:r>
              <a:rPr lang="en-US" sz="2416" b="1">
                <a:solidFill>
                  <a:srgbClr val="000000"/>
                </a:solidFill>
                <a:latin typeface="Cy Grotesk Key Semi-Bold"/>
                <a:ea typeface="Cy Grotesk Key Semi-Bold"/>
                <a:cs typeface="Cy Grotesk Key Semi-Bold"/>
                <a:sym typeface="Cy Grotesk Key Semi-Bold"/>
              </a:rPr>
              <a:t>DES COMPÉTENCES HUMAINES DÉVELOPPÉES</a:t>
            </a:r>
          </a:p>
        </p:txBody>
      </p:sp>
      <p:sp>
        <p:nvSpPr>
          <p:cNvPr id="11" name="AutoShape 11"/>
          <p:cNvSpPr/>
          <p:nvPr/>
        </p:nvSpPr>
        <p:spPr>
          <a:xfrm>
            <a:off x="9582124" y="6530408"/>
            <a:ext cx="6673343" cy="70802"/>
          </a:xfrm>
          <a:prstGeom prst="line">
            <a:avLst/>
          </a:prstGeom>
          <a:ln w="19050" cap="flat">
            <a:solidFill>
              <a:srgbClr val="000000"/>
            </a:solidFill>
            <a:prstDash val="solid"/>
            <a:headEnd type="none" w="sm" len="sm"/>
            <a:tailEnd type="none" w="sm" len="sm"/>
          </a:ln>
        </p:spPr>
        <p:txBody>
          <a:bodyPr/>
          <a:lstStyle/>
          <a:p>
            <a:endParaRPr lang="fr-FR"/>
          </a:p>
        </p:txBody>
      </p:sp>
      <p:sp>
        <p:nvSpPr>
          <p:cNvPr id="12" name="TextBox 12"/>
          <p:cNvSpPr txBox="1"/>
          <p:nvPr/>
        </p:nvSpPr>
        <p:spPr>
          <a:xfrm>
            <a:off x="2032532" y="2624439"/>
            <a:ext cx="14222935" cy="1166495"/>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Les jeunes deviennent acteurs du projet à travers leur participation active aux ateliers numériques, leur aide à l'installation du matériel informatique et l'animation des séances auprès des seniors. Ce rôle de transmission leur permet de développer un véritable sens des responsabilités et de s'engager concrètement dans la vie de leur territoire. Le projet favorise ainsi l'engagement citoyen et la participation locale des nouvelles générations.</a:t>
            </a:r>
          </a:p>
        </p:txBody>
      </p:sp>
      <p:sp>
        <p:nvSpPr>
          <p:cNvPr id="13" name="TextBox 13"/>
          <p:cNvSpPr txBox="1"/>
          <p:nvPr/>
        </p:nvSpPr>
        <p:spPr>
          <a:xfrm>
            <a:off x="2032532" y="7096193"/>
            <a:ext cx="14222935" cy="871220"/>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À travers ce projet, les jeunes développent des compétences humaines essentielles : l'esprit d'équipe en travaillant ensemble, le respect envers les seniors qu'ils accompagnent, le sens des responsabilités dans leurs missions, et une utilisation responsable du numérique. Cette expérience renforce leur confiance en eux et leur capacité à contribuer positivement à la société.</a:t>
            </a:r>
          </a:p>
        </p:txBody>
      </p:sp>
      <p:sp>
        <p:nvSpPr>
          <p:cNvPr id="14" name="Freeform 14"/>
          <p:cNvSpPr/>
          <p:nvPr/>
        </p:nvSpPr>
        <p:spPr>
          <a:xfrm rot="-888222" flipH="1">
            <a:off x="-2964073" y="-117789"/>
            <a:ext cx="7315200" cy="1250234"/>
          </a:xfrm>
          <a:custGeom>
            <a:avLst/>
            <a:gdLst/>
            <a:ahLst/>
            <a:cxnLst/>
            <a:rect l="l" t="t" r="r" b="b"/>
            <a:pathLst>
              <a:path w="7315200" h="1250234">
                <a:moveTo>
                  <a:pt x="7315200" y="0"/>
                </a:moveTo>
                <a:lnTo>
                  <a:pt x="0" y="0"/>
                </a:lnTo>
                <a:lnTo>
                  <a:pt x="0" y="1250234"/>
                </a:lnTo>
                <a:lnTo>
                  <a:pt x="7315200" y="1250234"/>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5" name="Freeform 15"/>
          <p:cNvSpPr/>
          <p:nvPr/>
        </p:nvSpPr>
        <p:spPr>
          <a:xfrm rot="-888222" flipH="1" flipV="1">
            <a:off x="14240765" y="8838983"/>
            <a:ext cx="7315200" cy="1250234"/>
          </a:xfrm>
          <a:custGeom>
            <a:avLst/>
            <a:gdLst/>
            <a:ahLst/>
            <a:cxnLst/>
            <a:rect l="l" t="t" r="r" b="b"/>
            <a:pathLst>
              <a:path w="7315200" h="1250234">
                <a:moveTo>
                  <a:pt x="7315200" y="1250234"/>
                </a:moveTo>
                <a:lnTo>
                  <a:pt x="0" y="1250234"/>
                </a:lnTo>
                <a:lnTo>
                  <a:pt x="0" y="0"/>
                </a:lnTo>
                <a:lnTo>
                  <a:pt x="7315200" y="0"/>
                </a:lnTo>
                <a:lnTo>
                  <a:pt x="7315200" y="1250234"/>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577833" y="3866671"/>
            <a:ext cx="7210205" cy="4095839"/>
            <a:chOff x="0" y="0"/>
            <a:chExt cx="4124273" cy="2342840"/>
          </a:xfrm>
        </p:grpSpPr>
        <p:sp>
          <p:nvSpPr>
            <p:cNvPr id="3" name="Freeform 3"/>
            <p:cNvSpPr/>
            <p:nvPr/>
          </p:nvSpPr>
          <p:spPr>
            <a:xfrm>
              <a:off x="0" y="0"/>
              <a:ext cx="4124273" cy="2342840"/>
            </a:xfrm>
            <a:custGeom>
              <a:avLst/>
              <a:gdLst/>
              <a:ahLst/>
              <a:cxnLst/>
              <a:rect l="l" t="t" r="r" b="b"/>
              <a:pathLst>
                <a:path w="4124273" h="2342840">
                  <a:moveTo>
                    <a:pt x="21475" y="0"/>
                  </a:moveTo>
                  <a:lnTo>
                    <a:pt x="4102798" y="0"/>
                  </a:lnTo>
                  <a:cubicBezTo>
                    <a:pt x="4114658" y="0"/>
                    <a:pt x="4124273" y="9615"/>
                    <a:pt x="4124273" y="21475"/>
                  </a:cubicBezTo>
                  <a:lnTo>
                    <a:pt x="4124273" y="2321365"/>
                  </a:lnTo>
                  <a:cubicBezTo>
                    <a:pt x="4124273" y="2333225"/>
                    <a:pt x="4114658" y="2342840"/>
                    <a:pt x="4102798" y="2342840"/>
                  </a:cubicBezTo>
                  <a:lnTo>
                    <a:pt x="21475" y="2342840"/>
                  </a:lnTo>
                  <a:cubicBezTo>
                    <a:pt x="9615" y="2342840"/>
                    <a:pt x="0" y="2333225"/>
                    <a:pt x="0" y="2321365"/>
                  </a:cubicBezTo>
                  <a:lnTo>
                    <a:pt x="0" y="21475"/>
                  </a:lnTo>
                  <a:cubicBezTo>
                    <a:pt x="0" y="9615"/>
                    <a:pt x="9615" y="0"/>
                    <a:pt x="21475" y="0"/>
                  </a:cubicBezTo>
                  <a:close/>
                </a:path>
              </a:pathLst>
            </a:custGeom>
            <a:solidFill>
              <a:srgbClr val="FFFFFF"/>
            </a:solidFill>
            <a:ln w="19050" cap="sq">
              <a:solidFill>
                <a:srgbClr val="000000"/>
              </a:solidFill>
              <a:prstDash val="solid"/>
              <a:miter/>
            </a:ln>
          </p:spPr>
          <p:txBody>
            <a:bodyPr/>
            <a:lstStyle/>
            <a:p>
              <a:endParaRPr lang="fr-FR"/>
            </a:p>
          </p:txBody>
        </p:sp>
        <p:sp>
          <p:nvSpPr>
            <p:cNvPr id="4" name="TextBox 4"/>
            <p:cNvSpPr txBox="1"/>
            <p:nvPr/>
          </p:nvSpPr>
          <p:spPr>
            <a:xfrm>
              <a:off x="0" y="-38100"/>
              <a:ext cx="4124273" cy="238094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9499962" y="3866671"/>
            <a:ext cx="7210205" cy="5775513"/>
            <a:chOff x="0" y="0"/>
            <a:chExt cx="4124273" cy="3303622"/>
          </a:xfrm>
        </p:grpSpPr>
        <p:sp>
          <p:nvSpPr>
            <p:cNvPr id="6" name="Freeform 6"/>
            <p:cNvSpPr/>
            <p:nvPr/>
          </p:nvSpPr>
          <p:spPr>
            <a:xfrm>
              <a:off x="0" y="0"/>
              <a:ext cx="4124273" cy="3303622"/>
            </a:xfrm>
            <a:custGeom>
              <a:avLst/>
              <a:gdLst/>
              <a:ahLst/>
              <a:cxnLst/>
              <a:rect l="l" t="t" r="r" b="b"/>
              <a:pathLst>
                <a:path w="4124273" h="3303622">
                  <a:moveTo>
                    <a:pt x="21475" y="0"/>
                  </a:moveTo>
                  <a:lnTo>
                    <a:pt x="4102798" y="0"/>
                  </a:lnTo>
                  <a:cubicBezTo>
                    <a:pt x="4114658" y="0"/>
                    <a:pt x="4124273" y="9615"/>
                    <a:pt x="4124273" y="21475"/>
                  </a:cubicBezTo>
                  <a:lnTo>
                    <a:pt x="4124273" y="3282147"/>
                  </a:lnTo>
                  <a:cubicBezTo>
                    <a:pt x="4124273" y="3294007"/>
                    <a:pt x="4114658" y="3303622"/>
                    <a:pt x="4102798" y="3303622"/>
                  </a:cubicBezTo>
                  <a:lnTo>
                    <a:pt x="21475" y="3303622"/>
                  </a:lnTo>
                  <a:cubicBezTo>
                    <a:pt x="9615" y="3303622"/>
                    <a:pt x="0" y="3294007"/>
                    <a:pt x="0" y="3282147"/>
                  </a:cubicBezTo>
                  <a:lnTo>
                    <a:pt x="0" y="21475"/>
                  </a:lnTo>
                  <a:cubicBezTo>
                    <a:pt x="0" y="9615"/>
                    <a:pt x="9615" y="0"/>
                    <a:pt x="21475" y="0"/>
                  </a:cubicBezTo>
                  <a:close/>
                </a:path>
              </a:pathLst>
            </a:custGeom>
            <a:solidFill>
              <a:srgbClr val="FFFFFF"/>
            </a:solidFill>
            <a:ln w="19050" cap="sq">
              <a:solidFill>
                <a:srgbClr val="000000"/>
              </a:solidFill>
              <a:prstDash val="solid"/>
              <a:miter/>
            </a:ln>
          </p:spPr>
          <p:txBody>
            <a:bodyPr/>
            <a:lstStyle/>
            <a:p>
              <a:endParaRPr lang="fr-FR"/>
            </a:p>
          </p:txBody>
        </p:sp>
        <p:sp>
          <p:nvSpPr>
            <p:cNvPr id="7" name="TextBox 7"/>
            <p:cNvSpPr txBox="1"/>
            <p:nvPr/>
          </p:nvSpPr>
          <p:spPr>
            <a:xfrm>
              <a:off x="0" y="-38100"/>
              <a:ext cx="4124273" cy="334172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8"/>
          <p:cNvSpPr txBox="1"/>
          <p:nvPr/>
        </p:nvSpPr>
        <p:spPr>
          <a:xfrm>
            <a:off x="2014888" y="586317"/>
            <a:ext cx="14258223" cy="847298"/>
          </a:xfrm>
          <a:prstGeom prst="rect">
            <a:avLst/>
          </a:prstGeom>
        </p:spPr>
        <p:txBody>
          <a:bodyPr lIns="0" tIns="0" rIns="0" bIns="0" rtlCol="0" anchor="t">
            <a:spAutoFit/>
          </a:bodyPr>
          <a:lstStyle/>
          <a:p>
            <a:pPr marL="0" lvl="0" indent="0" algn="ctr">
              <a:lnSpc>
                <a:spcPts val="6848"/>
              </a:lnSpc>
              <a:spcBef>
                <a:spcPct val="0"/>
              </a:spcBef>
            </a:pPr>
            <a:r>
              <a:rPr lang="en-US" sz="4891" b="1" dirty="0">
                <a:solidFill>
                  <a:srgbClr val="000000"/>
                </a:solidFill>
                <a:latin typeface="Cy Grotesk Key Semi-Bold"/>
                <a:ea typeface="Cy Grotesk Key Semi-Bold"/>
                <a:cs typeface="Cy Grotesk Key Semi-Bold"/>
                <a:sym typeface="Cy Grotesk Key Semi-Bold"/>
              </a:rPr>
              <a:t>MISE EN PLACE DU RÉSEAU INFORMATIQUE</a:t>
            </a:r>
          </a:p>
        </p:txBody>
      </p:sp>
      <p:sp>
        <p:nvSpPr>
          <p:cNvPr id="9" name="TextBox 9"/>
          <p:cNvSpPr txBox="1"/>
          <p:nvPr/>
        </p:nvSpPr>
        <p:spPr>
          <a:xfrm>
            <a:off x="1686534" y="2539754"/>
            <a:ext cx="14867214" cy="692186"/>
          </a:xfrm>
          <a:prstGeom prst="rect">
            <a:avLst/>
          </a:prstGeom>
        </p:spPr>
        <p:txBody>
          <a:bodyPr lIns="0" tIns="0" rIns="0" bIns="0" rtlCol="0" anchor="t">
            <a:spAutoFit/>
          </a:bodyPr>
          <a:lstStyle/>
          <a:p>
            <a:pPr marL="0" lvl="0" indent="0" algn="ctr">
              <a:lnSpc>
                <a:spcPts val="2798"/>
              </a:lnSpc>
            </a:pPr>
            <a:r>
              <a:rPr lang="en-US" sz="1998">
                <a:solidFill>
                  <a:srgbClr val="000000"/>
                </a:solidFill>
                <a:latin typeface="Canva Sans"/>
                <a:ea typeface="Canva Sans"/>
                <a:cs typeface="Canva Sans"/>
                <a:sym typeface="Canva Sans"/>
              </a:rPr>
              <a:t>Installation et configuration des infrastructures réseau dans les structures partenaires pour améliorer la connectivité et moderniser les équipements informatiques.</a:t>
            </a:r>
          </a:p>
        </p:txBody>
      </p:sp>
      <p:sp>
        <p:nvSpPr>
          <p:cNvPr id="10" name="TextBox 10"/>
          <p:cNvSpPr txBox="1"/>
          <p:nvPr/>
        </p:nvSpPr>
        <p:spPr>
          <a:xfrm>
            <a:off x="2111474" y="4337615"/>
            <a:ext cx="6142923" cy="622999"/>
          </a:xfrm>
          <a:prstGeom prst="rect">
            <a:avLst/>
          </a:prstGeom>
        </p:spPr>
        <p:txBody>
          <a:bodyPr lIns="0" tIns="0" rIns="0" bIns="0" rtlCol="0" anchor="t">
            <a:spAutoFit/>
          </a:bodyPr>
          <a:lstStyle/>
          <a:p>
            <a:pPr marL="0" lvl="0" indent="0" algn="l">
              <a:lnSpc>
                <a:spcPts val="5036"/>
              </a:lnSpc>
              <a:spcBef>
                <a:spcPct val="0"/>
              </a:spcBef>
            </a:pPr>
            <a:r>
              <a:rPr lang="en-US" sz="3597">
                <a:solidFill>
                  <a:srgbClr val="000000"/>
                </a:solidFill>
                <a:latin typeface="Cy Grotesk Key"/>
                <a:ea typeface="Cy Grotesk Key"/>
                <a:cs typeface="Cy Grotesk Key"/>
                <a:sym typeface="Cy Grotesk Key"/>
              </a:rPr>
              <a:t>Lieux d'intervention</a:t>
            </a:r>
          </a:p>
        </p:txBody>
      </p:sp>
      <p:sp>
        <p:nvSpPr>
          <p:cNvPr id="11" name="TextBox 11"/>
          <p:cNvSpPr txBox="1"/>
          <p:nvPr/>
        </p:nvSpPr>
        <p:spPr>
          <a:xfrm>
            <a:off x="2111474" y="5617775"/>
            <a:ext cx="6142923" cy="1461800"/>
          </a:xfrm>
          <a:prstGeom prst="rect">
            <a:avLst/>
          </a:prstGeom>
        </p:spPr>
        <p:txBody>
          <a:bodyPr lIns="0" tIns="0" rIns="0" bIns="0" rtlCol="0" anchor="t">
            <a:spAutoFit/>
          </a:bodyPr>
          <a:lstStyle/>
          <a:p>
            <a:pPr marL="0" lvl="0" indent="0" algn="just">
              <a:lnSpc>
                <a:spcPts val="2378"/>
              </a:lnSpc>
            </a:pPr>
            <a:r>
              <a:rPr lang="en-US" sz="1698" b="1">
                <a:solidFill>
                  <a:srgbClr val="000000"/>
                </a:solidFill>
                <a:latin typeface="Canva Sans Bold"/>
                <a:ea typeface="Canva Sans Bold"/>
                <a:cs typeface="Canva Sans Bold"/>
                <a:sym typeface="Canva Sans Bold"/>
              </a:rPr>
              <a:t>Le déploiement du réseau informatique a été réalisé dans deux structures clés : une résidence pour personnes âgées et la Maison de Retraite des Arts et du Cinéma. Ces installations permettent aux résidents et au personnel de bénéficier d'une connectivité optimale.</a:t>
            </a:r>
          </a:p>
        </p:txBody>
      </p:sp>
      <p:sp>
        <p:nvSpPr>
          <p:cNvPr id="12" name="TextBox 12"/>
          <p:cNvSpPr txBox="1"/>
          <p:nvPr/>
        </p:nvSpPr>
        <p:spPr>
          <a:xfrm>
            <a:off x="10033603" y="4337615"/>
            <a:ext cx="6142923" cy="622999"/>
          </a:xfrm>
          <a:prstGeom prst="rect">
            <a:avLst/>
          </a:prstGeom>
        </p:spPr>
        <p:txBody>
          <a:bodyPr lIns="0" tIns="0" rIns="0" bIns="0" rtlCol="0" anchor="t">
            <a:spAutoFit/>
          </a:bodyPr>
          <a:lstStyle/>
          <a:p>
            <a:pPr marL="0" lvl="0" indent="0" algn="l">
              <a:lnSpc>
                <a:spcPts val="5036"/>
              </a:lnSpc>
              <a:spcBef>
                <a:spcPct val="0"/>
              </a:spcBef>
            </a:pPr>
            <a:r>
              <a:rPr lang="en-US" sz="3597">
                <a:solidFill>
                  <a:srgbClr val="000000"/>
                </a:solidFill>
                <a:latin typeface="Cy Grotesk Key"/>
                <a:ea typeface="Cy Grotesk Key"/>
                <a:cs typeface="Cy Grotesk Key"/>
                <a:sym typeface="Cy Grotesk Key"/>
              </a:rPr>
              <a:t>Missions techniques</a:t>
            </a:r>
          </a:p>
        </p:txBody>
      </p:sp>
      <p:sp>
        <p:nvSpPr>
          <p:cNvPr id="13" name="TextBox 13"/>
          <p:cNvSpPr txBox="1"/>
          <p:nvPr/>
        </p:nvSpPr>
        <p:spPr>
          <a:xfrm>
            <a:off x="10033603" y="4979570"/>
            <a:ext cx="6142923" cy="280700"/>
          </a:xfrm>
          <a:prstGeom prst="rect">
            <a:avLst/>
          </a:prstGeom>
        </p:spPr>
        <p:txBody>
          <a:bodyPr lIns="0" tIns="0" rIns="0" bIns="0" rtlCol="0" anchor="t">
            <a:spAutoFit/>
          </a:bodyPr>
          <a:lstStyle/>
          <a:p>
            <a:pPr marL="0" lvl="0" indent="0" algn="just">
              <a:lnSpc>
                <a:spcPts val="2378"/>
              </a:lnSpc>
            </a:pPr>
            <a:r>
              <a:rPr lang="en-US" sz="1698">
                <a:solidFill>
                  <a:srgbClr val="737373"/>
                </a:solidFill>
                <a:latin typeface="Canva Sans"/>
                <a:ea typeface="Canva Sans"/>
                <a:cs typeface="Canva Sans"/>
                <a:sym typeface="Canva Sans"/>
              </a:rPr>
              <a:t>Installation, configuration, organisation réseau</a:t>
            </a:r>
          </a:p>
        </p:txBody>
      </p:sp>
      <p:sp>
        <p:nvSpPr>
          <p:cNvPr id="14" name="Freeform 14"/>
          <p:cNvSpPr/>
          <p:nvPr/>
        </p:nvSpPr>
        <p:spPr>
          <a:xfrm>
            <a:off x="746881" y="665485"/>
            <a:ext cx="985100" cy="922300"/>
          </a:xfrm>
          <a:custGeom>
            <a:avLst/>
            <a:gdLst/>
            <a:ahLst/>
            <a:cxnLst/>
            <a:rect l="l" t="t" r="r" b="b"/>
            <a:pathLst>
              <a:path w="985100" h="922300">
                <a:moveTo>
                  <a:pt x="0" y="0"/>
                </a:moveTo>
                <a:lnTo>
                  <a:pt x="985100" y="0"/>
                </a:lnTo>
                <a:lnTo>
                  <a:pt x="985100" y="922300"/>
                </a:lnTo>
                <a:lnTo>
                  <a:pt x="0" y="9223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5" name="Freeform 15"/>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6" name="TextBox 16"/>
          <p:cNvSpPr txBox="1"/>
          <p:nvPr/>
        </p:nvSpPr>
        <p:spPr>
          <a:xfrm>
            <a:off x="10033603" y="5617775"/>
            <a:ext cx="6142923" cy="1757075"/>
          </a:xfrm>
          <a:prstGeom prst="rect">
            <a:avLst/>
          </a:prstGeom>
        </p:spPr>
        <p:txBody>
          <a:bodyPr lIns="0" tIns="0" rIns="0" bIns="0" rtlCol="0" anchor="t">
            <a:spAutoFit/>
          </a:bodyPr>
          <a:lstStyle/>
          <a:p>
            <a:pPr marL="0" lvl="0" indent="0" algn="l">
              <a:lnSpc>
                <a:spcPts val="2378"/>
              </a:lnSpc>
            </a:pPr>
            <a:r>
              <a:rPr lang="en-US" sz="1698" b="1">
                <a:solidFill>
                  <a:srgbClr val="000000"/>
                </a:solidFill>
                <a:latin typeface="Canva Sans Bold"/>
                <a:ea typeface="Canva Sans Bold"/>
                <a:cs typeface="Canva Sans Bold"/>
                <a:sym typeface="Canva Sans Bold"/>
              </a:rPr>
              <a:t>Installation et configuration du matériel informatique adapté aux besoins des structures. Organisation du réseau interne pour une meilleure gestion des flux de données.</a:t>
            </a:r>
          </a:p>
          <a:p>
            <a:pPr marL="0" lvl="0" indent="0" algn="l">
              <a:lnSpc>
                <a:spcPts val="2378"/>
              </a:lnSpc>
            </a:pPr>
            <a:r>
              <a:rPr lang="en-US" sz="1698" b="1">
                <a:solidFill>
                  <a:srgbClr val="000000"/>
                </a:solidFill>
                <a:latin typeface="Canva Sans Bold"/>
                <a:ea typeface="Canva Sans Bold"/>
                <a:cs typeface="Canva Sans Bold"/>
                <a:sym typeface="Canva Sans Bold"/>
              </a:rPr>
              <a:t>Amélioration de la connectivité pour faciliter les communications et optimisation de la circulation des informations entre les différents services et résidents.</a:t>
            </a:r>
          </a:p>
        </p:txBody>
      </p:sp>
      <p:sp>
        <p:nvSpPr>
          <p:cNvPr id="17" name="TextBox 17"/>
          <p:cNvSpPr txBox="1"/>
          <p:nvPr/>
        </p:nvSpPr>
        <p:spPr>
          <a:xfrm>
            <a:off x="2111474" y="4931945"/>
            <a:ext cx="6142923" cy="280700"/>
          </a:xfrm>
          <a:prstGeom prst="rect">
            <a:avLst/>
          </a:prstGeom>
        </p:spPr>
        <p:txBody>
          <a:bodyPr lIns="0" tIns="0" rIns="0" bIns="0" rtlCol="0" anchor="t">
            <a:spAutoFit/>
          </a:bodyPr>
          <a:lstStyle/>
          <a:p>
            <a:pPr marL="0" lvl="0" indent="0" algn="just">
              <a:lnSpc>
                <a:spcPts val="2378"/>
              </a:lnSpc>
            </a:pPr>
            <a:r>
              <a:rPr lang="en-US" sz="1698">
                <a:solidFill>
                  <a:srgbClr val="737373"/>
                </a:solidFill>
                <a:latin typeface="Canva Sans"/>
                <a:ea typeface="Canva Sans"/>
                <a:cs typeface="Canva Sans"/>
                <a:sym typeface="Canva Sans"/>
              </a:rPr>
              <a:t>Résidence PA, Maison des Arts et Cinéma</a:t>
            </a:r>
          </a:p>
        </p:txBody>
      </p:sp>
      <p:sp>
        <p:nvSpPr>
          <p:cNvPr id="18" name="TextBox 18"/>
          <p:cNvSpPr txBox="1"/>
          <p:nvPr/>
        </p:nvSpPr>
        <p:spPr>
          <a:xfrm>
            <a:off x="1577833" y="8372085"/>
            <a:ext cx="7210205" cy="575975"/>
          </a:xfrm>
          <a:prstGeom prst="rect">
            <a:avLst/>
          </a:prstGeom>
        </p:spPr>
        <p:txBody>
          <a:bodyPr lIns="0" tIns="0" rIns="0" bIns="0" rtlCol="0" anchor="t">
            <a:spAutoFit/>
          </a:bodyPr>
          <a:lstStyle/>
          <a:p>
            <a:pPr marL="0" lvl="0" indent="0" algn="just">
              <a:lnSpc>
                <a:spcPts val="2378"/>
              </a:lnSpc>
            </a:pPr>
            <a:r>
              <a:rPr lang="en-US" sz="1698" b="1">
                <a:solidFill>
                  <a:srgbClr val="C61800"/>
                </a:solidFill>
                <a:latin typeface="Canva Sans Bold"/>
                <a:ea typeface="Canva Sans Bold"/>
                <a:cs typeface="Canva Sans Bold"/>
                <a:sym typeface="Canva Sans Bold"/>
              </a:rPr>
              <a:t>Objectif : moderniser les équipements informatiques et faciliter le travail quotidien des professionnels au service des personnes âgées.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94404" y="1028700"/>
            <a:ext cx="4112054" cy="2500419"/>
            <a:chOff x="0" y="0"/>
            <a:chExt cx="3210981" cy="1952504"/>
          </a:xfrm>
        </p:grpSpPr>
        <p:sp>
          <p:nvSpPr>
            <p:cNvPr id="3" name="Freeform 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000000"/>
            </a:solidFill>
            <a:ln w="47625" cap="rnd">
              <a:solidFill>
                <a:srgbClr val="000000"/>
              </a:solidFill>
              <a:prstDash val="solid"/>
              <a:round/>
            </a:ln>
          </p:spPr>
          <p:txBody>
            <a:bodyPr/>
            <a:lstStyle/>
            <a:p>
              <a:endParaRPr lang="fr-FR"/>
            </a:p>
          </p:txBody>
        </p:sp>
        <p:sp>
          <p:nvSpPr>
            <p:cNvPr id="4" name="TextBox 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394404" y="3893290"/>
            <a:ext cx="4112054" cy="2500419"/>
            <a:chOff x="0" y="0"/>
            <a:chExt cx="3210981" cy="1952504"/>
          </a:xfrm>
        </p:grpSpPr>
        <p:sp>
          <p:nvSpPr>
            <p:cNvPr id="6" name="Freeform 6"/>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7" name="TextBox 7"/>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394404" y="6757881"/>
            <a:ext cx="4112054" cy="2500419"/>
            <a:chOff x="0" y="0"/>
            <a:chExt cx="3210981" cy="1952504"/>
          </a:xfrm>
        </p:grpSpPr>
        <p:sp>
          <p:nvSpPr>
            <p:cNvPr id="9" name="Freeform 9"/>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10" name="TextBox 10"/>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1915239" y="1584737"/>
            <a:ext cx="3070384" cy="1215390"/>
          </a:xfrm>
          <a:prstGeom prst="rect">
            <a:avLst/>
          </a:prstGeom>
        </p:spPr>
        <p:txBody>
          <a:bodyPr lIns="0" tIns="0" rIns="0" bIns="0" rtlCol="0" anchor="t">
            <a:spAutoFit/>
          </a:bodyPr>
          <a:lstStyle/>
          <a:p>
            <a:pPr marL="0" lvl="0" indent="0" algn="ctr">
              <a:lnSpc>
                <a:spcPts val="4934"/>
              </a:lnSpc>
            </a:pPr>
            <a:r>
              <a:rPr lang="en-US" sz="3525">
                <a:solidFill>
                  <a:srgbClr val="FFFFFF"/>
                </a:solidFill>
                <a:latin typeface="Cy Grotesk Key"/>
                <a:ea typeface="Cy Grotesk Key"/>
                <a:cs typeface="Cy Grotesk Key"/>
                <a:sym typeface="Cy Grotesk Key"/>
              </a:rPr>
              <a:t>Partenariat</a:t>
            </a:r>
          </a:p>
          <a:p>
            <a:pPr marL="0" lvl="0" indent="0" algn="ctr">
              <a:lnSpc>
                <a:spcPts val="4934"/>
              </a:lnSpc>
            </a:pPr>
            <a:r>
              <a:rPr lang="en-US" sz="3525">
                <a:solidFill>
                  <a:srgbClr val="FFFFFF"/>
                </a:solidFill>
                <a:latin typeface="Cy Grotesk Key"/>
                <a:ea typeface="Cy Grotesk Key"/>
                <a:cs typeface="Cy Grotesk Key"/>
                <a:sym typeface="Cy Grotesk Key"/>
              </a:rPr>
              <a:t>IMA</a:t>
            </a:r>
          </a:p>
        </p:txBody>
      </p:sp>
      <p:sp>
        <p:nvSpPr>
          <p:cNvPr id="12" name="TextBox 12"/>
          <p:cNvSpPr txBox="1"/>
          <p:nvPr/>
        </p:nvSpPr>
        <p:spPr>
          <a:xfrm>
            <a:off x="1915239" y="4449328"/>
            <a:ext cx="3070384" cy="1215390"/>
          </a:xfrm>
          <a:prstGeom prst="rect">
            <a:avLst/>
          </a:prstGeom>
        </p:spPr>
        <p:txBody>
          <a:bodyPr lIns="0" tIns="0" rIns="0" bIns="0" rtlCol="0" anchor="t">
            <a:spAutoFit/>
          </a:bodyPr>
          <a:lstStyle/>
          <a:p>
            <a:pPr marL="0" lvl="0" indent="0" algn="ctr">
              <a:lnSpc>
                <a:spcPts val="4934"/>
              </a:lnSpc>
            </a:pPr>
            <a:r>
              <a:rPr lang="en-US" sz="3525">
                <a:solidFill>
                  <a:srgbClr val="000000"/>
                </a:solidFill>
                <a:latin typeface="Cy Grotesk Key"/>
                <a:ea typeface="Cy Grotesk Key"/>
                <a:cs typeface="Cy Grotesk Key"/>
                <a:sym typeface="Cy Grotesk Key"/>
              </a:rPr>
              <a:t>Équipements</a:t>
            </a:r>
          </a:p>
          <a:p>
            <a:pPr marL="0" lvl="0" indent="0" algn="ctr">
              <a:lnSpc>
                <a:spcPts val="4934"/>
              </a:lnSpc>
            </a:pPr>
            <a:r>
              <a:rPr lang="en-US" sz="3525">
                <a:solidFill>
                  <a:srgbClr val="000000"/>
                </a:solidFill>
                <a:latin typeface="Cy Grotesk Key"/>
                <a:ea typeface="Cy Grotesk Key"/>
                <a:cs typeface="Cy Grotesk Key"/>
                <a:sym typeface="Cy Grotesk Key"/>
              </a:rPr>
              <a:t>Donnés</a:t>
            </a:r>
          </a:p>
        </p:txBody>
      </p:sp>
      <p:sp>
        <p:nvSpPr>
          <p:cNvPr id="13" name="TextBox 13"/>
          <p:cNvSpPr txBox="1"/>
          <p:nvPr/>
        </p:nvSpPr>
        <p:spPr>
          <a:xfrm>
            <a:off x="1915239" y="7313918"/>
            <a:ext cx="3070384" cy="1215390"/>
          </a:xfrm>
          <a:prstGeom prst="rect">
            <a:avLst/>
          </a:prstGeom>
        </p:spPr>
        <p:txBody>
          <a:bodyPr lIns="0" tIns="0" rIns="0" bIns="0" rtlCol="0" anchor="t">
            <a:spAutoFit/>
          </a:bodyPr>
          <a:lstStyle/>
          <a:p>
            <a:pPr marL="0" lvl="0" indent="0" algn="ctr">
              <a:lnSpc>
                <a:spcPts val="4934"/>
              </a:lnSpc>
            </a:pPr>
            <a:r>
              <a:rPr lang="en-US" sz="3525">
                <a:solidFill>
                  <a:srgbClr val="000000"/>
                </a:solidFill>
                <a:latin typeface="Cy Grotesk Key"/>
                <a:ea typeface="Cy Grotesk Key"/>
                <a:cs typeface="Cy Grotesk Key"/>
                <a:sym typeface="Cy Grotesk Key"/>
              </a:rPr>
              <a:t>Démarche</a:t>
            </a:r>
          </a:p>
          <a:p>
            <a:pPr marL="0" lvl="0" indent="0" algn="ctr">
              <a:lnSpc>
                <a:spcPts val="4934"/>
              </a:lnSpc>
            </a:pPr>
            <a:r>
              <a:rPr lang="en-US" sz="3525">
                <a:solidFill>
                  <a:srgbClr val="000000"/>
                </a:solidFill>
                <a:latin typeface="Cy Grotesk Key"/>
                <a:ea typeface="Cy Grotesk Key"/>
                <a:cs typeface="Cy Grotesk Key"/>
                <a:sym typeface="Cy Grotesk Key"/>
              </a:rPr>
              <a:t>Écologique</a:t>
            </a:r>
          </a:p>
        </p:txBody>
      </p:sp>
      <p:grpSp>
        <p:nvGrpSpPr>
          <p:cNvPr id="14" name="Group 14"/>
          <p:cNvGrpSpPr/>
          <p:nvPr/>
        </p:nvGrpSpPr>
        <p:grpSpPr>
          <a:xfrm>
            <a:off x="6435373" y="4283455"/>
            <a:ext cx="10458223" cy="4974845"/>
            <a:chOff x="0" y="0"/>
            <a:chExt cx="8166518" cy="3884709"/>
          </a:xfrm>
        </p:grpSpPr>
        <p:sp>
          <p:nvSpPr>
            <p:cNvPr id="15" name="Freeform 15"/>
            <p:cNvSpPr/>
            <p:nvPr/>
          </p:nvSpPr>
          <p:spPr>
            <a:xfrm>
              <a:off x="0" y="0"/>
              <a:ext cx="8166518" cy="3884709"/>
            </a:xfrm>
            <a:custGeom>
              <a:avLst/>
              <a:gdLst/>
              <a:ahLst/>
              <a:cxnLst/>
              <a:rect l="l" t="t" r="r" b="b"/>
              <a:pathLst>
                <a:path w="8166518" h="3884709">
                  <a:moveTo>
                    <a:pt x="22208" y="0"/>
                  </a:moveTo>
                  <a:lnTo>
                    <a:pt x="8144310" y="0"/>
                  </a:lnTo>
                  <a:cubicBezTo>
                    <a:pt x="8156575" y="0"/>
                    <a:pt x="8166518" y="9943"/>
                    <a:pt x="8166518" y="22208"/>
                  </a:cubicBezTo>
                  <a:lnTo>
                    <a:pt x="8166518" y="3862501"/>
                  </a:lnTo>
                  <a:cubicBezTo>
                    <a:pt x="8166518" y="3874767"/>
                    <a:pt x="8156575" y="3884709"/>
                    <a:pt x="8144310" y="3884709"/>
                  </a:cubicBezTo>
                  <a:lnTo>
                    <a:pt x="22208" y="3884709"/>
                  </a:lnTo>
                  <a:cubicBezTo>
                    <a:pt x="9943" y="3884709"/>
                    <a:pt x="0" y="3874767"/>
                    <a:pt x="0" y="3862501"/>
                  </a:cubicBezTo>
                  <a:lnTo>
                    <a:pt x="0" y="22208"/>
                  </a:lnTo>
                  <a:cubicBezTo>
                    <a:pt x="0" y="9943"/>
                    <a:pt x="9943" y="0"/>
                    <a:pt x="22208" y="0"/>
                  </a:cubicBezTo>
                  <a:close/>
                </a:path>
              </a:pathLst>
            </a:custGeom>
            <a:solidFill>
              <a:srgbClr val="FFFFFF"/>
            </a:solidFill>
            <a:ln w="19050" cap="rnd">
              <a:solidFill>
                <a:srgbClr val="000000"/>
              </a:solidFill>
              <a:prstDash val="solid"/>
              <a:round/>
            </a:ln>
          </p:spPr>
          <p:txBody>
            <a:bodyPr/>
            <a:lstStyle/>
            <a:p>
              <a:endParaRPr lang="fr-FR"/>
            </a:p>
          </p:txBody>
        </p:sp>
        <p:sp>
          <p:nvSpPr>
            <p:cNvPr id="16" name="TextBox 16"/>
            <p:cNvSpPr txBox="1"/>
            <p:nvPr/>
          </p:nvSpPr>
          <p:spPr>
            <a:xfrm>
              <a:off x="0" y="-38100"/>
              <a:ext cx="8166518" cy="392280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7168527" y="6365135"/>
            <a:ext cx="8991915" cy="1461800"/>
          </a:xfrm>
          <a:prstGeom prst="rect">
            <a:avLst/>
          </a:prstGeom>
        </p:spPr>
        <p:txBody>
          <a:bodyPr lIns="0" tIns="0" rIns="0" bIns="0" rtlCol="0" anchor="t">
            <a:spAutoFit/>
          </a:bodyPr>
          <a:lstStyle/>
          <a:p>
            <a:pPr marL="0" lvl="0" indent="0" algn="l">
              <a:lnSpc>
                <a:spcPts val="2378"/>
              </a:lnSpc>
            </a:pPr>
            <a:r>
              <a:rPr lang="en-US" sz="1698">
                <a:solidFill>
                  <a:srgbClr val="000000"/>
                </a:solidFill>
                <a:latin typeface="Canva Sans"/>
                <a:ea typeface="Canva Sans"/>
                <a:cs typeface="Canva Sans"/>
                <a:sym typeface="Canva Sans"/>
              </a:rPr>
              <a:t>Environ 20 ordinateurs, écrans, claviers et équipements divers ont été récupérés pour équiper les ateliers numériques et les structures d'accueil des personnes âgées.</a:t>
            </a:r>
          </a:p>
          <a:p>
            <a:pPr marL="0" lvl="0" indent="0" algn="l">
              <a:lnSpc>
                <a:spcPts val="2378"/>
              </a:lnSpc>
            </a:pPr>
            <a:r>
              <a:rPr lang="en-US" sz="1698">
                <a:solidFill>
                  <a:srgbClr val="000000"/>
                </a:solidFill>
                <a:latin typeface="Canva Sans"/>
                <a:ea typeface="Canva Sans"/>
                <a:cs typeface="Canva Sans"/>
                <a:sym typeface="Canva Sans"/>
              </a:rPr>
              <a:t>Cette action s'inscrit dans une démarche écologique et solidaire : prolonger la durée de vie du matériel informatique tout en soutenant l'inclusion numérique des publics fragiles.</a:t>
            </a:r>
          </a:p>
        </p:txBody>
      </p:sp>
      <p:sp>
        <p:nvSpPr>
          <p:cNvPr id="18" name="TextBox 18"/>
          <p:cNvSpPr txBox="1"/>
          <p:nvPr/>
        </p:nvSpPr>
        <p:spPr>
          <a:xfrm>
            <a:off x="7168527" y="4751548"/>
            <a:ext cx="8991915" cy="1234483"/>
          </a:xfrm>
          <a:prstGeom prst="rect">
            <a:avLst/>
          </a:prstGeom>
        </p:spPr>
        <p:txBody>
          <a:bodyPr lIns="0" tIns="0" rIns="0" bIns="0" rtlCol="0" anchor="t">
            <a:spAutoFit/>
          </a:bodyPr>
          <a:lstStyle/>
          <a:p>
            <a:pPr marL="0" lvl="0" indent="0" algn="l">
              <a:lnSpc>
                <a:spcPts val="3357"/>
              </a:lnSpc>
            </a:pPr>
            <a:r>
              <a:rPr lang="en-US" sz="2398" b="1">
                <a:solidFill>
                  <a:srgbClr val="C61800"/>
                </a:solidFill>
                <a:latin typeface="Canva Sans Bold"/>
                <a:ea typeface="Canva Sans Bold"/>
                <a:cs typeface="Canva Sans Bold"/>
                <a:sym typeface="Canva Sans Bold"/>
              </a:rPr>
              <a:t>Partenariat avec l'Institut du Monde Arabe : lors du renouvellement de leur parc informatique, l'IMA a fait don de matériel aux structures partenaires du projet.</a:t>
            </a:r>
          </a:p>
        </p:txBody>
      </p:sp>
      <p:sp>
        <p:nvSpPr>
          <p:cNvPr id="19" name="Freeform 19"/>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20" name="TextBox 20"/>
          <p:cNvSpPr txBox="1"/>
          <p:nvPr/>
        </p:nvSpPr>
        <p:spPr>
          <a:xfrm>
            <a:off x="6882681" y="1979307"/>
            <a:ext cx="9563606" cy="1749514"/>
          </a:xfrm>
          <a:prstGeom prst="rect">
            <a:avLst/>
          </a:prstGeom>
        </p:spPr>
        <p:txBody>
          <a:bodyPr lIns="0" tIns="0" rIns="0" bIns="0" rtlCol="0" anchor="t">
            <a:spAutoFit/>
          </a:bodyPr>
          <a:lstStyle/>
          <a:p>
            <a:pPr marL="0" lvl="0" indent="0" algn="ctr">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DU MATÉRIEL INFORMATIQUE</a:t>
            </a:r>
          </a:p>
        </p:txBody>
      </p:sp>
      <p:sp>
        <p:nvSpPr>
          <p:cNvPr id="21" name="TextBox 21"/>
          <p:cNvSpPr txBox="1"/>
          <p:nvPr/>
        </p:nvSpPr>
        <p:spPr>
          <a:xfrm>
            <a:off x="6882681" y="1346212"/>
            <a:ext cx="9563606" cy="506427"/>
          </a:xfrm>
          <a:prstGeom prst="rect">
            <a:avLst/>
          </a:prstGeom>
        </p:spPr>
        <p:txBody>
          <a:bodyPr lIns="0" tIns="0" rIns="0" bIns="0" rtlCol="0" anchor="t">
            <a:spAutoFit/>
          </a:bodyPr>
          <a:lstStyle/>
          <a:p>
            <a:pPr marL="634082" lvl="1" indent="-317041" algn="ctr">
              <a:lnSpc>
                <a:spcPts val="4111"/>
              </a:lnSpc>
              <a:spcBef>
                <a:spcPct val="0"/>
              </a:spcBef>
              <a:buFont typeface="Arial"/>
              <a:buChar char="•"/>
            </a:pPr>
            <a:r>
              <a:rPr lang="en-US" sz="2936" b="1">
                <a:solidFill>
                  <a:srgbClr val="C61800"/>
                </a:solidFill>
                <a:latin typeface="Cy Grotesk Key Semi-Bold"/>
                <a:ea typeface="Cy Grotesk Key Semi-Bold"/>
                <a:cs typeface="Cy Grotesk Key Semi-Bold"/>
                <a:sym typeface="Cy Grotesk Key Semi-Bold"/>
              </a:rPr>
              <a:t>DON ET RÉEMPLOI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52550" y="1119693"/>
            <a:ext cx="15582900" cy="4084115"/>
            <a:chOff x="0" y="0"/>
            <a:chExt cx="9364372" cy="2454304"/>
          </a:xfrm>
        </p:grpSpPr>
        <p:sp>
          <p:nvSpPr>
            <p:cNvPr id="3" name="Freeform 3"/>
            <p:cNvSpPr/>
            <p:nvPr/>
          </p:nvSpPr>
          <p:spPr>
            <a:xfrm>
              <a:off x="0" y="0"/>
              <a:ext cx="9364372" cy="2454304"/>
            </a:xfrm>
            <a:custGeom>
              <a:avLst/>
              <a:gdLst/>
              <a:ahLst/>
              <a:cxnLst/>
              <a:rect l="l" t="t" r="r" b="b"/>
              <a:pathLst>
                <a:path w="9364372" h="2454304">
                  <a:moveTo>
                    <a:pt x="14905" y="0"/>
                  </a:moveTo>
                  <a:lnTo>
                    <a:pt x="9349467" y="0"/>
                  </a:lnTo>
                  <a:cubicBezTo>
                    <a:pt x="9353420" y="0"/>
                    <a:pt x="9357211" y="1570"/>
                    <a:pt x="9360006" y="4365"/>
                  </a:cubicBezTo>
                  <a:cubicBezTo>
                    <a:pt x="9362801" y="7161"/>
                    <a:pt x="9364372" y="10952"/>
                    <a:pt x="9364372" y="14905"/>
                  </a:cubicBezTo>
                  <a:lnTo>
                    <a:pt x="9364372" y="2439399"/>
                  </a:lnTo>
                  <a:cubicBezTo>
                    <a:pt x="9364372" y="2443352"/>
                    <a:pt x="9362801" y="2447143"/>
                    <a:pt x="9360006" y="2449939"/>
                  </a:cubicBezTo>
                  <a:cubicBezTo>
                    <a:pt x="9357211" y="2452734"/>
                    <a:pt x="9353420" y="2454304"/>
                    <a:pt x="9349467" y="2454304"/>
                  </a:cubicBezTo>
                  <a:lnTo>
                    <a:pt x="14905" y="2454304"/>
                  </a:lnTo>
                  <a:cubicBezTo>
                    <a:pt x="10952" y="2454304"/>
                    <a:pt x="7161" y="2452734"/>
                    <a:pt x="4365" y="2449939"/>
                  </a:cubicBezTo>
                  <a:cubicBezTo>
                    <a:pt x="1570" y="2447143"/>
                    <a:pt x="0" y="2443352"/>
                    <a:pt x="0" y="2439399"/>
                  </a:cubicBezTo>
                  <a:lnTo>
                    <a:pt x="0" y="14905"/>
                  </a:lnTo>
                  <a:cubicBezTo>
                    <a:pt x="0" y="10952"/>
                    <a:pt x="1570" y="7161"/>
                    <a:pt x="4365" y="4365"/>
                  </a:cubicBezTo>
                  <a:cubicBezTo>
                    <a:pt x="7161" y="1570"/>
                    <a:pt x="10952" y="0"/>
                    <a:pt x="14905"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9364372" cy="24924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2032532" y="1670958"/>
            <a:ext cx="9656864" cy="572398"/>
          </a:xfrm>
          <a:prstGeom prst="rect">
            <a:avLst/>
          </a:prstGeom>
        </p:spPr>
        <p:txBody>
          <a:bodyPr lIns="0" tIns="0" rIns="0" bIns="0" rtlCol="0" anchor="t">
            <a:spAutoFit/>
          </a:bodyPr>
          <a:lstStyle/>
          <a:p>
            <a:pPr marL="0" lvl="0" indent="0" algn="l">
              <a:lnSpc>
                <a:spcPts val="4675"/>
              </a:lnSpc>
              <a:spcBef>
                <a:spcPct val="0"/>
              </a:spcBef>
            </a:pPr>
            <a:r>
              <a:rPr lang="en-US" sz="3339" b="1">
                <a:solidFill>
                  <a:srgbClr val="C61800"/>
                </a:solidFill>
                <a:latin typeface="Cy Grotesk Key Semi-Bold"/>
                <a:ea typeface="Cy Grotesk Key Semi-Bold"/>
                <a:cs typeface="Cy Grotesk Key Semi-Bold"/>
                <a:sym typeface="Cy Grotesk Key Semi-Bold"/>
              </a:rPr>
              <a:t>IMPACT DU PROJET SUR LE TERRITOIRE</a:t>
            </a:r>
          </a:p>
        </p:txBody>
      </p:sp>
      <p:sp>
        <p:nvSpPr>
          <p:cNvPr id="6" name="AutoShape 6"/>
          <p:cNvSpPr/>
          <p:nvPr/>
        </p:nvSpPr>
        <p:spPr>
          <a:xfrm>
            <a:off x="11689396" y="2055768"/>
            <a:ext cx="4566072" cy="70802"/>
          </a:xfrm>
          <a:prstGeom prst="line">
            <a:avLst/>
          </a:prstGeom>
          <a:ln w="19050" cap="flat">
            <a:solidFill>
              <a:srgbClr val="000000"/>
            </a:solidFill>
            <a:prstDash val="solid"/>
            <a:headEnd type="none" w="sm" len="sm"/>
            <a:tailEnd type="none" w="sm" len="sm"/>
          </a:ln>
        </p:spPr>
        <p:txBody>
          <a:bodyPr/>
          <a:lstStyle/>
          <a:p>
            <a:endParaRPr lang="fr-FR"/>
          </a:p>
        </p:txBody>
      </p:sp>
      <p:grpSp>
        <p:nvGrpSpPr>
          <p:cNvPr id="7" name="Group 7"/>
          <p:cNvGrpSpPr/>
          <p:nvPr/>
        </p:nvGrpSpPr>
        <p:grpSpPr>
          <a:xfrm>
            <a:off x="1352550" y="5594334"/>
            <a:ext cx="15582900" cy="3572973"/>
            <a:chOff x="0" y="0"/>
            <a:chExt cx="9364372" cy="2147139"/>
          </a:xfrm>
        </p:grpSpPr>
        <p:sp>
          <p:nvSpPr>
            <p:cNvPr id="8" name="Freeform 8"/>
            <p:cNvSpPr/>
            <p:nvPr/>
          </p:nvSpPr>
          <p:spPr>
            <a:xfrm>
              <a:off x="0" y="0"/>
              <a:ext cx="9364372" cy="2147139"/>
            </a:xfrm>
            <a:custGeom>
              <a:avLst/>
              <a:gdLst/>
              <a:ahLst/>
              <a:cxnLst/>
              <a:rect l="l" t="t" r="r" b="b"/>
              <a:pathLst>
                <a:path w="9364372" h="2147139">
                  <a:moveTo>
                    <a:pt x="14905" y="0"/>
                  </a:moveTo>
                  <a:lnTo>
                    <a:pt x="9349467" y="0"/>
                  </a:lnTo>
                  <a:cubicBezTo>
                    <a:pt x="9353420" y="0"/>
                    <a:pt x="9357211" y="1570"/>
                    <a:pt x="9360006" y="4365"/>
                  </a:cubicBezTo>
                  <a:cubicBezTo>
                    <a:pt x="9362801" y="7161"/>
                    <a:pt x="9364372" y="10952"/>
                    <a:pt x="9364372" y="14905"/>
                  </a:cubicBezTo>
                  <a:lnTo>
                    <a:pt x="9364372" y="2132234"/>
                  </a:lnTo>
                  <a:cubicBezTo>
                    <a:pt x="9364372" y="2136187"/>
                    <a:pt x="9362801" y="2139978"/>
                    <a:pt x="9360006" y="2142773"/>
                  </a:cubicBezTo>
                  <a:cubicBezTo>
                    <a:pt x="9357211" y="2145569"/>
                    <a:pt x="9353420" y="2147139"/>
                    <a:pt x="9349467" y="2147139"/>
                  </a:cubicBezTo>
                  <a:lnTo>
                    <a:pt x="14905" y="2147139"/>
                  </a:lnTo>
                  <a:cubicBezTo>
                    <a:pt x="6673" y="2147139"/>
                    <a:pt x="0" y="2140466"/>
                    <a:pt x="0" y="2132234"/>
                  </a:cubicBezTo>
                  <a:lnTo>
                    <a:pt x="0" y="14905"/>
                  </a:lnTo>
                  <a:cubicBezTo>
                    <a:pt x="0" y="10952"/>
                    <a:pt x="1570" y="7161"/>
                    <a:pt x="4365" y="4365"/>
                  </a:cubicBezTo>
                  <a:cubicBezTo>
                    <a:pt x="7161" y="1570"/>
                    <a:pt x="10952" y="0"/>
                    <a:pt x="14905" y="0"/>
                  </a:cubicBezTo>
                  <a:close/>
                </a:path>
              </a:pathLst>
            </a:custGeom>
            <a:solidFill>
              <a:srgbClr val="FFFFFF"/>
            </a:solidFill>
            <a:ln w="19050" cap="rnd">
              <a:solidFill>
                <a:srgbClr val="000000"/>
              </a:solidFill>
              <a:prstDash val="solid"/>
              <a:round/>
            </a:ln>
          </p:spPr>
          <p:txBody>
            <a:bodyPr/>
            <a:lstStyle/>
            <a:p>
              <a:endParaRPr lang="fr-FR"/>
            </a:p>
          </p:txBody>
        </p:sp>
        <p:sp>
          <p:nvSpPr>
            <p:cNvPr id="9" name="TextBox 9"/>
            <p:cNvSpPr txBox="1"/>
            <p:nvPr/>
          </p:nvSpPr>
          <p:spPr>
            <a:xfrm>
              <a:off x="0" y="-38100"/>
              <a:ext cx="9364372" cy="218523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2032532" y="5958010"/>
            <a:ext cx="7549592" cy="572398"/>
          </a:xfrm>
          <a:prstGeom prst="rect">
            <a:avLst/>
          </a:prstGeom>
        </p:spPr>
        <p:txBody>
          <a:bodyPr lIns="0" tIns="0" rIns="0" bIns="0" rtlCol="0" anchor="t">
            <a:spAutoFit/>
          </a:bodyPr>
          <a:lstStyle/>
          <a:p>
            <a:pPr marL="0" lvl="0" indent="0" algn="l">
              <a:lnSpc>
                <a:spcPts val="4675"/>
              </a:lnSpc>
              <a:spcBef>
                <a:spcPct val="0"/>
              </a:spcBef>
            </a:pPr>
            <a:r>
              <a:rPr lang="en-US" sz="3339" b="1" dirty="0">
                <a:solidFill>
                  <a:srgbClr val="000000"/>
                </a:solidFill>
                <a:latin typeface="Cy Grotesk Key Semi-Bold"/>
                <a:ea typeface="Cy Grotesk Key Semi-Bold"/>
                <a:cs typeface="Cy Grotesk Key Semi-Bold"/>
                <a:sym typeface="Cy Grotesk Key Semi-Bold"/>
              </a:rPr>
              <a:t>UNE TRANSFORMATION DURABLE</a:t>
            </a:r>
          </a:p>
        </p:txBody>
      </p:sp>
      <p:sp>
        <p:nvSpPr>
          <p:cNvPr id="11" name="AutoShape 11"/>
          <p:cNvSpPr/>
          <p:nvPr/>
        </p:nvSpPr>
        <p:spPr>
          <a:xfrm>
            <a:off x="9582124" y="6530408"/>
            <a:ext cx="6673343" cy="70802"/>
          </a:xfrm>
          <a:prstGeom prst="line">
            <a:avLst/>
          </a:prstGeom>
          <a:ln w="19050" cap="flat">
            <a:solidFill>
              <a:srgbClr val="000000"/>
            </a:solidFill>
            <a:prstDash val="solid"/>
            <a:headEnd type="none" w="sm" len="sm"/>
            <a:tailEnd type="none" w="sm" len="sm"/>
          </a:ln>
        </p:spPr>
        <p:txBody>
          <a:bodyPr/>
          <a:lstStyle/>
          <a:p>
            <a:endParaRPr lang="fr-FR"/>
          </a:p>
        </p:txBody>
      </p:sp>
      <p:sp>
        <p:nvSpPr>
          <p:cNvPr id="12" name="TextBox 12"/>
          <p:cNvSpPr txBox="1"/>
          <p:nvPr/>
        </p:nvSpPr>
        <p:spPr>
          <a:xfrm>
            <a:off x="2032532" y="2624439"/>
            <a:ext cx="14222935" cy="1166495"/>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Le projet a permis une amélioration significative de l'accès au numérique pour les jeunes et les seniors de Vigneux-sur-Seine. Grâce aux ateliers intergénérationnels et à l'installation de réseaux informatiques dans les structures locales, les habitants bénéficient désormais d'outils adaptés et d'un accompagnement personnalisé. Le renforcement du lien social et intergénérationnel constitue l'un des résultats les plus marquants : jeunes et seniors collaborent, échangent et apprennent ensemble, créant une dynamique de solidarité locale.</a:t>
            </a:r>
          </a:p>
        </p:txBody>
      </p:sp>
      <p:sp>
        <p:nvSpPr>
          <p:cNvPr id="13" name="TextBox 13"/>
          <p:cNvSpPr txBox="1"/>
          <p:nvPr/>
        </p:nvSpPr>
        <p:spPr>
          <a:xfrm>
            <a:off x="2032532" y="7096193"/>
            <a:ext cx="14222935" cy="1166495"/>
          </a:xfrm>
          <a:prstGeom prst="rect">
            <a:avLst/>
          </a:prstGeom>
        </p:spPr>
        <p:txBody>
          <a:bodyPr lIns="0" tIns="0" rIns="0" bIns="0" rtlCol="0" anchor="t">
            <a:spAutoFit/>
          </a:bodyPr>
          <a:lstStyle/>
          <a:p>
            <a:pPr marL="0" lvl="0" indent="0" algn="l">
              <a:lnSpc>
                <a:spcPts val="2380"/>
              </a:lnSpc>
            </a:pPr>
            <a:r>
              <a:rPr lang="en-US" sz="1700">
                <a:solidFill>
                  <a:srgbClr val="000000"/>
                </a:solidFill>
                <a:latin typeface="Canva Sans"/>
                <a:ea typeface="Canva Sans"/>
                <a:cs typeface="Canva Sans"/>
                <a:sym typeface="Canva Sans"/>
              </a:rPr>
              <a:t>La modernisation des structures partenaires, notamment la résidence pour personnes âgées et la Maison de Retraite des Arts et du Cinéma, a permis d'améliorer la qualité des services et la communication interne. La réduction de la fracture numérique favorise l'autonomie des publics accompagnés. Enfin, le projet valorise l'engagement citoyen des jeunes, qui deviennent acteurs de leur territoire et contribuent activement au développement local.</a:t>
            </a:r>
          </a:p>
        </p:txBody>
      </p:sp>
      <p:sp>
        <p:nvSpPr>
          <p:cNvPr id="14" name="Freeform 14"/>
          <p:cNvSpPr/>
          <p:nvPr/>
        </p:nvSpPr>
        <p:spPr>
          <a:xfrm rot="-888222" flipH="1">
            <a:off x="-2964073" y="-117789"/>
            <a:ext cx="7315200" cy="1250234"/>
          </a:xfrm>
          <a:custGeom>
            <a:avLst/>
            <a:gdLst/>
            <a:ahLst/>
            <a:cxnLst/>
            <a:rect l="l" t="t" r="r" b="b"/>
            <a:pathLst>
              <a:path w="7315200" h="1250234">
                <a:moveTo>
                  <a:pt x="7315200" y="0"/>
                </a:moveTo>
                <a:lnTo>
                  <a:pt x="0" y="0"/>
                </a:lnTo>
                <a:lnTo>
                  <a:pt x="0" y="1250234"/>
                </a:lnTo>
                <a:lnTo>
                  <a:pt x="7315200" y="1250234"/>
                </a:lnTo>
                <a:lnTo>
                  <a:pt x="73152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5" name="Freeform 15"/>
          <p:cNvSpPr/>
          <p:nvPr/>
        </p:nvSpPr>
        <p:spPr>
          <a:xfrm rot="-888222" flipH="1" flipV="1">
            <a:off x="14240765" y="8838983"/>
            <a:ext cx="7315200" cy="1250234"/>
          </a:xfrm>
          <a:custGeom>
            <a:avLst/>
            <a:gdLst/>
            <a:ahLst/>
            <a:cxnLst/>
            <a:rect l="l" t="t" r="r" b="b"/>
            <a:pathLst>
              <a:path w="7315200" h="1250234">
                <a:moveTo>
                  <a:pt x="7315200" y="1250234"/>
                </a:moveTo>
                <a:lnTo>
                  <a:pt x="0" y="1250234"/>
                </a:lnTo>
                <a:lnTo>
                  <a:pt x="0" y="0"/>
                </a:lnTo>
                <a:lnTo>
                  <a:pt x="7315200" y="0"/>
                </a:lnTo>
                <a:lnTo>
                  <a:pt x="7315200" y="1250234"/>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1394404" y="1028700"/>
            <a:ext cx="4112054" cy="2500419"/>
            <a:chOff x="0" y="0"/>
            <a:chExt cx="3210981" cy="1952504"/>
          </a:xfrm>
        </p:grpSpPr>
        <p:sp>
          <p:nvSpPr>
            <p:cNvPr id="3" name="Freeform 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4" name="TextBox 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394404" y="3893290"/>
            <a:ext cx="4112054" cy="2500419"/>
            <a:chOff x="0" y="0"/>
            <a:chExt cx="3210981" cy="1952504"/>
          </a:xfrm>
        </p:grpSpPr>
        <p:sp>
          <p:nvSpPr>
            <p:cNvPr id="6" name="Freeform 6"/>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FFFFFF"/>
            </a:solidFill>
            <a:ln w="19050" cap="rnd">
              <a:solidFill>
                <a:srgbClr val="000000"/>
              </a:solidFill>
              <a:prstDash val="solid"/>
              <a:round/>
            </a:ln>
          </p:spPr>
          <p:txBody>
            <a:bodyPr/>
            <a:lstStyle/>
            <a:p>
              <a:endParaRPr lang="fr-FR"/>
            </a:p>
          </p:txBody>
        </p:sp>
        <p:sp>
          <p:nvSpPr>
            <p:cNvPr id="7" name="TextBox 7"/>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rot="67865" flipH="1">
            <a:off x="-227870" y="7574300"/>
            <a:ext cx="19658875" cy="3359880"/>
          </a:xfrm>
          <a:custGeom>
            <a:avLst/>
            <a:gdLst/>
            <a:ahLst/>
            <a:cxnLst/>
            <a:rect l="l" t="t" r="r" b="b"/>
            <a:pathLst>
              <a:path w="19658875" h="3359880">
                <a:moveTo>
                  <a:pt x="19658875" y="0"/>
                </a:moveTo>
                <a:lnTo>
                  <a:pt x="0" y="0"/>
                </a:lnTo>
                <a:lnTo>
                  <a:pt x="0" y="3359880"/>
                </a:lnTo>
                <a:lnTo>
                  <a:pt x="19658875" y="3359880"/>
                </a:lnTo>
                <a:lnTo>
                  <a:pt x="1965887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grpSp>
        <p:nvGrpSpPr>
          <p:cNvPr id="9" name="Group 9"/>
          <p:cNvGrpSpPr/>
          <p:nvPr/>
        </p:nvGrpSpPr>
        <p:grpSpPr>
          <a:xfrm>
            <a:off x="6435373" y="4283455"/>
            <a:ext cx="10458223" cy="4974845"/>
            <a:chOff x="0" y="0"/>
            <a:chExt cx="8166518" cy="3884709"/>
          </a:xfrm>
        </p:grpSpPr>
        <p:sp>
          <p:nvSpPr>
            <p:cNvPr id="10" name="Freeform 10"/>
            <p:cNvSpPr/>
            <p:nvPr/>
          </p:nvSpPr>
          <p:spPr>
            <a:xfrm>
              <a:off x="0" y="0"/>
              <a:ext cx="8166518" cy="3884709"/>
            </a:xfrm>
            <a:custGeom>
              <a:avLst/>
              <a:gdLst/>
              <a:ahLst/>
              <a:cxnLst/>
              <a:rect l="l" t="t" r="r" b="b"/>
              <a:pathLst>
                <a:path w="8166518" h="3884709">
                  <a:moveTo>
                    <a:pt x="22208" y="0"/>
                  </a:moveTo>
                  <a:lnTo>
                    <a:pt x="8144310" y="0"/>
                  </a:lnTo>
                  <a:cubicBezTo>
                    <a:pt x="8156575" y="0"/>
                    <a:pt x="8166518" y="9943"/>
                    <a:pt x="8166518" y="22208"/>
                  </a:cubicBezTo>
                  <a:lnTo>
                    <a:pt x="8166518" y="3862501"/>
                  </a:lnTo>
                  <a:cubicBezTo>
                    <a:pt x="8166518" y="3874767"/>
                    <a:pt x="8156575" y="3884709"/>
                    <a:pt x="8144310" y="3884709"/>
                  </a:cubicBezTo>
                  <a:lnTo>
                    <a:pt x="22208" y="3884709"/>
                  </a:lnTo>
                  <a:cubicBezTo>
                    <a:pt x="9943" y="3884709"/>
                    <a:pt x="0" y="3874767"/>
                    <a:pt x="0" y="3862501"/>
                  </a:cubicBezTo>
                  <a:lnTo>
                    <a:pt x="0" y="22208"/>
                  </a:lnTo>
                  <a:cubicBezTo>
                    <a:pt x="0" y="9943"/>
                    <a:pt x="9943" y="0"/>
                    <a:pt x="22208" y="0"/>
                  </a:cubicBezTo>
                  <a:close/>
                </a:path>
              </a:pathLst>
            </a:custGeom>
            <a:solidFill>
              <a:srgbClr val="FFFFFF"/>
            </a:solidFill>
            <a:ln w="19050" cap="rnd">
              <a:solidFill>
                <a:srgbClr val="000000"/>
              </a:solidFill>
              <a:prstDash val="solid"/>
              <a:round/>
            </a:ln>
          </p:spPr>
          <p:txBody>
            <a:bodyPr/>
            <a:lstStyle/>
            <a:p>
              <a:endParaRPr lang="fr-FR"/>
            </a:p>
          </p:txBody>
        </p:sp>
        <p:sp>
          <p:nvSpPr>
            <p:cNvPr id="11" name="TextBox 11"/>
            <p:cNvSpPr txBox="1"/>
            <p:nvPr/>
          </p:nvSpPr>
          <p:spPr>
            <a:xfrm>
              <a:off x="0" y="-38100"/>
              <a:ext cx="8166518" cy="392280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1394404" y="6757881"/>
            <a:ext cx="4112054" cy="2500419"/>
            <a:chOff x="0" y="0"/>
            <a:chExt cx="3210981" cy="1952504"/>
          </a:xfrm>
        </p:grpSpPr>
        <p:sp>
          <p:nvSpPr>
            <p:cNvPr id="13" name="Freeform 13"/>
            <p:cNvSpPr/>
            <p:nvPr/>
          </p:nvSpPr>
          <p:spPr>
            <a:xfrm>
              <a:off x="0" y="0"/>
              <a:ext cx="3210981" cy="1952504"/>
            </a:xfrm>
            <a:custGeom>
              <a:avLst/>
              <a:gdLst/>
              <a:ahLst/>
              <a:cxnLst/>
              <a:rect l="l" t="t" r="r" b="b"/>
              <a:pathLst>
                <a:path w="3210981" h="1952504">
                  <a:moveTo>
                    <a:pt x="56482" y="0"/>
                  </a:moveTo>
                  <a:lnTo>
                    <a:pt x="3154499" y="0"/>
                  </a:lnTo>
                  <a:cubicBezTo>
                    <a:pt x="3169479" y="0"/>
                    <a:pt x="3183846" y="5951"/>
                    <a:pt x="3194438" y="16543"/>
                  </a:cubicBezTo>
                  <a:cubicBezTo>
                    <a:pt x="3205031" y="27136"/>
                    <a:pt x="3210981" y="41502"/>
                    <a:pt x="3210981" y="56482"/>
                  </a:cubicBezTo>
                  <a:lnTo>
                    <a:pt x="3210981" y="1896021"/>
                  </a:lnTo>
                  <a:cubicBezTo>
                    <a:pt x="3210981" y="1911002"/>
                    <a:pt x="3205031" y="1925368"/>
                    <a:pt x="3194438" y="1935961"/>
                  </a:cubicBezTo>
                  <a:cubicBezTo>
                    <a:pt x="3183846" y="1946553"/>
                    <a:pt x="3169479" y="1952504"/>
                    <a:pt x="3154499" y="1952504"/>
                  </a:cubicBezTo>
                  <a:lnTo>
                    <a:pt x="56482" y="1952504"/>
                  </a:lnTo>
                  <a:cubicBezTo>
                    <a:pt x="41502" y="1952504"/>
                    <a:pt x="27136" y="1946553"/>
                    <a:pt x="16543" y="1935961"/>
                  </a:cubicBezTo>
                  <a:cubicBezTo>
                    <a:pt x="5951" y="1925368"/>
                    <a:pt x="0" y="1911002"/>
                    <a:pt x="0" y="1896021"/>
                  </a:cubicBezTo>
                  <a:lnTo>
                    <a:pt x="0" y="56482"/>
                  </a:lnTo>
                  <a:cubicBezTo>
                    <a:pt x="0" y="41502"/>
                    <a:pt x="5951" y="27136"/>
                    <a:pt x="16543" y="16543"/>
                  </a:cubicBezTo>
                  <a:cubicBezTo>
                    <a:pt x="27136" y="5951"/>
                    <a:pt x="41502" y="0"/>
                    <a:pt x="56482" y="0"/>
                  </a:cubicBezTo>
                  <a:close/>
                </a:path>
              </a:pathLst>
            </a:custGeom>
            <a:solidFill>
              <a:srgbClr val="000000"/>
            </a:solidFill>
            <a:ln w="19050" cap="rnd">
              <a:solidFill>
                <a:srgbClr val="000000"/>
              </a:solidFill>
              <a:prstDash val="solid"/>
              <a:round/>
            </a:ln>
          </p:spPr>
          <p:txBody>
            <a:bodyPr/>
            <a:lstStyle/>
            <a:p>
              <a:endParaRPr lang="fr-FR"/>
            </a:p>
          </p:txBody>
        </p:sp>
        <p:sp>
          <p:nvSpPr>
            <p:cNvPr id="14" name="TextBox 14"/>
            <p:cNvSpPr txBox="1"/>
            <p:nvPr/>
          </p:nvSpPr>
          <p:spPr>
            <a:xfrm>
              <a:off x="0" y="-38100"/>
              <a:ext cx="3210981" cy="199060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15"/>
          <p:cNvSpPr txBox="1"/>
          <p:nvPr/>
        </p:nvSpPr>
        <p:spPr>
          <a:xfrm>
            <a:off x="1915239" y="1575212"/>
            <a:ext cx="3070384" cy="1154430"/>
          </a:xfrm>
          <a:prstGeom prst="rect">
            <a:avLst/>
          </a:prstGeom>
        </p:spPr>
        <p:txBody>
          <a:bodyPr lIns="0" tIns="0" rIns="0" bIns="0" rtlCol="0" anchor="t">
            <a:spAutoFit/>
          </a:bodyPr>
          <a:lstStyle/>
          <a:p>
            <a:pPr marL="0" lvl="0" indent="0" algn="ctr">
              <a:lnSpc>
                <a:spcPts val="4620"/>
              </a:lnSpc>
            </a:pPr>
            <a:r>
              <a:rPr lang="en-US" sz="3300">
                <a:solidFill>
                  <a:srgbClr val="000000"/>
                </a:solidFill>
                <a:latin typeface="Cy Grotesk Key"/>
                <a:ea typeface="Cy Grotesk Key"/>
                <a:cs typeface="Cy Grotesk Key"/>
                <a:sym typeface="Cy Grotesk Key"/>
              </a:rPr>
              <a:t>Compétences</a:t>
            </a:r>
          </a:p>
          <a:p>
            <a:pPr marL="0" lvl="0" indent="0" algn="ctr">
              <a:lnSpc>
                <a:spcPts val="4620"/>
              </a:lnSpc>
            </a:pPr>
            <a:r>
              <a:rPr lang="en-US" sz="3300">
                <a:solidFill>
                  <a:srgbClr val="000000"/>
                </a:solidFill>
                <a:latin typeface="Cy Grotesk Key"/>
                <a:ea typeface="Cy Grotesk Key"/>
                <a:cs typeface="Cy Grotesk Key"/>
                <a:sym typeface="Cy Grotesk Key"/>
              </a:rPr>
              <a:t>Techniques</a:t>
            </a:r>
          </a:p>
        </p:txBody>
      </p:sp>
      <p:sp>
        <p:nvSpPr>
          <p:cNvPr id="16" name="TextBox 16"/>
          <p:cNvSpPr txBox="1"/>
          <p:nvPr/>
        </p:nvSpPr>
        <p:spPr>
          <a:xfrm>
            <a:off x="1915239" y="4439803"/>
            <a:ext cx="3070384" cy="1154430"/>
          </a:xfrm>
          <a:prstGeom prst="rect">
            <a:avLst/>
          </a:prstGeom>
        </p:spPr>
        <p:txBody>
          <a:bodyPr lIns="0" tIns="0" rIns="0" bIns="0" rtlCol="0" anchor="t">
            <a:spAutoFit/>
          </a:bodyPr>
          <a:lstStyle/>
          <a:p>
            <a:pPr marL="0" lvl="0" indent="0" algn="ctr">
              <a:lnSpc>
                <a:spcPts val="4620"/>
              </a:lnSpc>
            </a:pPr>
            <a:r>
              <a:rPr lang="en-US" sz="3300">
                <a:solidFill>
                  <a:srgbClr val="000000"/>
                </a:solidFill>
                <a:latin typeface="Cy Grotesk Key"/>
                <a:ea typeface="Cy Grotesk Key"/>
                <a:cs typeface="Cy Grotesk Key"/>
                <a:sym typeface="Cy Grotesk Key"/>
              </a:rPr>
              <a:t>Compétences</a:t>
            </a:r>
          </a:p>
          <a:p>
            <a:pPr marL="0" lvl="0" indent="0" algn="ctr">
              <a:lnSpc>
                <a:spcPts val="4620"/>
              </a:lnSpc>
            </a:pPr>
            <a:r>
              <a:rPr lang="en-US" sz="3300">
                <a:solidFill>
                  <a:srgbClr val="000000"/>
                </a:solidFill>
                <a:latin typeface="Cy Grotesk Key"/>
                <a:ea typeface="Cy Grotesk Key"/>
                <a:cs typeface="Cy Grotesk Key"/>
                <a:sym typeface="Cy Grotesk Key"/>
              </a:rPr>
              <a:t>Pédagogiques</a:t>
            </a:r>
          </a:p>
        </p:txBody>
      </p:sp>
      <p:sp>
        <p:nvSpPr>
          <p:cNvPr id="17" name="TextBox 17"/>
          <p:cNvSpPr txBox="1"/>
          <p:nvPr/>
        </p:nvSpPr>
        <p:spPr>
          <a:xfrm>
            <a:off x="1915239" y="7304393"/>
            <a:ext cx="3070384" cy="1154430"/>
          </a:xfrm>
          <a:prstGeom prst="rect">
            <a:avLst/>
          </a:prstGeom>
        </p:spPr>
        <p:txBody>
          <a:bodyPr lIns="0" tIns="0" rIns="0" bIns="0" rtlCol="0" anchor="t">
            <a:spAutoFit/>
          </a:bodyPr>
          <a:lstStyle/>
          <a:p>
            <a:pPr marL="0" lvl="0" indent="0" algn="ctr">
              <a:lnSpc>
                <a:spcPts val="4620"/>
              </a:lnSpc>
            </a:pPr>
            <a:r>
              <a:rPr lang="en-US" sz="3300">
                <a:solidFill>
                  <a:srgbClr val="FFFFFF"/>
                </a:solidFill>
                <a:latin typeface="Cy Grotesk Key"/>
                <a:ea typeface="Cy Grotesk Key"/>
                <a:cs typeface="Cy Grotesk Key"/>
                <a:sym typeface="Cy Grotesk Key"/>
              </a:rPr>
              <a:t>Compétences</a:t>
            </a:r>
          </a:p>
          <a:p>
            <a:pPr marL="0" lvl="0" indent="0" algn="ctr">
              <a:lnSpc>
                <a:spcPts val="4620"/>
              </a:lnSpc>
            </a:pPr>
            <a:r>
              <a:rPr lang="en-US" sz="3300">
                <a:solidFill>
                  <a:srgbClr val="FFFFFF"/>
                </a:solidFill>
                <a:latin typeface="Cy Grotesk Key"/>
                <a:ea typeface="Cy Grotesk Key"/>
                <a:cs typeface="Cy Grotesk Key"/>
                <a:sym typeface="Cy Grotesk Key"/>
              </a:rPr>
              <a:t>Humaines</a:t>
            </a:r>
          </a:p>
        </p:txBody>
      </p:sp>
      <p:sp>
        <p:nvSpPr>
          <p:cNvPr id="18" name="Freeform 18"/>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19" name="TextBox 19"/>
          <p:cNvSpPr txBox="1"/>
          <p:nvPr/>
        </p:nvSpPr>
        <p:spPr>
          <a:xfrm>
            <a:off x="6882681" y="1979307"/>
            <a:ext cx="9563606" cy="1749514"/>
          </a:xfrm>
          <a:prstGeom prst="rect">
            <a:avLst/>
          </a:prstGeom>
        </p:spPr>
        <p:txBody>
          <a:bodyPr lIns="0" tIns="0" rIns="0" bIns="0" rtlCol="0" anchor="t">
            <a:spAutoFit/>
          </a:bodyPr>
          <a:lstStyle/>
          <a:p>
            <a:pPr marL="0" lvl="0" indent="0" algn="ctr">
              <a:lnSpc>
                <a:spcPts val="6995"/>
              </a:lnSpc>
              <a:spcBef>
                <a:spcPct val="0"/>
              </a:spcBef>
            </a:pPr>
            <a:r>
              <a:rPr lang="en-US" sz="4996" b="1">
                <a:solidFill>
                  <a:srgbClr val="000000"/>
                </a:solidFill>
                <a:latin typeface="Cy Grotesk Key Semi-Bold"/>
                <a:ea typeface="Cy Grotesk Key Semi-Bold"/>
                <a:cs typeface="Cy Grotesk Key Semi-Bold"/>
                <a:sym typeface="Cy Grotesk Key Semi-Bold"/>
              </a:rPr>
              <a:t>COMPÉTENCES DÉVELOPPÉES</a:t>
            </a:r>
          </a:p>
        </p:txBody>
      </p:sp>
      <p:sp>
        <p:nvSpPr>
          <p:cNvPr id="20" name="TextBox 20"/>
          <p:cNvSpPr txBox="1"/>
          <p:nvPr/>
        </p:nvSpPr>
        <p:spPr>
          <a:xfrm>
            <a:off x="6882681" y="1355737"/>
            <a:ext cx="9563606" cy="473089"/>
          </a:xfrm>
          <a:prstGeom prst="rect">
            <a:avLst/>
          </a:prstGeom>
        </p:spPr>
        <p:txBody>
          <a:bodyPr lIns="0" tIns="0" rIns="0" bIns="0" rtlCol="0" anchor="t">
            <a:spAutoFit/>
          </a:bodyPr>
          <a:lstStyle/>
          <a:p>
            <a:pPr marL="593609" lvl="1" indent="-296804" algn="ctr">
              <a:lnSpc>
                <a:spcPts val="3849"/>
              </a:lnSpc>
              <a:spcBef>
                <a:spcPct val="0"/>
              </a:spcBef>
              <a:buFont typeface="Arial"/>
              <a:buChar char="•"/>
            </a:pPr>
            <a:r>
              <a:rPr lang="en-US" sz="2749" b="1">
                <a:solidFill>
                  <a:srgbClr val="C61800"/>
                </a:solidFill>
                <a:latin typeface="Cy Grotesk Key Semi-Bold"/>
                <a:ea typeface="Cy Grotesk Key Semi-Bold"/>
                <a:cs typeface="Cy Grotesk Key Semi-Bold"/>
                <a:sym typeface="Cy Grotesk Key Semi-Bold"/>
              </a:rPr>
              <a:t>PROJET NUMÉRIQUE CITOYEN -</a:t>
            </a:r>
          </a:p>
        </p:txBody>
      </p:sp>
      <p:sp>
        <p:nvSpPr>
          <p:cNvPr id="21" name="TextBox 21"/>
          <p:cNvSpPr txBox="1"/>
          <p:nvPr/>
        </p:nvSpPr>
        <p:spPr>
          <a:xfrm>
            <a:off x="7168527" y="4925177"/>
            <a:ext cx="8991915" cy="1653583"/>
          </a:xfrm>
          <a:prstGeom prst="rect">
            <a:avLst/>
          </a:prstGeom>
        </p:spPr>
        <p:txBody>
          <a:bodyPr lIns="0" tIns="0" rIns="0" bIns="0" rtlCol="0" anchor="t">
            <a:spAutoFit/>
          </a:bodyPr>
          <a:lstStyle/>
          <a:p>
            <a:pPr marL="0" lvl="0" indent="0" algn="l">
              <a:lnSpc>
                <a:spcPts val="3357"/>
              </a:lnSpc>
            </a:pPr>
            <a:r>
              <a:rPr lang="en-US" sz="2398" b="1">
                <a:solidFill>
                  <a:srgbClr val="C61800"/>
                </a:solidFill>
                <a:latin typeface="Canva Sans Bold"/>
                <a:ea typeface="Canva Sans Bold"/>
                <a:cs typeface="Canva Sans Bold"/>
                <a:sym typeface="Canva Sans Bold"/>
              </a:rPr>
              <a:t>Réseau et infrastructure : Installation, configuration et maintenance du matériel informatique. Organisation et optimisation des réseaux internes. Gestion de projet technique et autonomie dans la mise en œuvre.</a:t>
            </a:r>
          </a:p>
        </p:txBody>
      </p:sp>
      <p:sp>
        <p:nvSpPr>
          <p:cNvPr id="22" name="TextBox 22"/>
          <p:cNvSpPr txBox="1"/>
          <p:nvPr/>
        </p:nvSpPr>
        <p:spPr>
          <a:xfrm>
            <a:off x="7168527" y="6878543"/>
            <a:ext cx="8991915" cy="871250"/>
          </a:xfrm>
          <a:prstGeom prst="rect">
            <a:avLst/>
          </a:prstGeom>
        </p:spPr>
        <p:txBody>
          <a:bodyPr lIns="0" tIns="0" rIns="0" bIns="0" rtlCol="0" anchor="t">
            <a:spAutoFit/>
          </a:bodyPr>
          <a:lstStyle/>
          <a:p>
            <a:pPr marL="0" lvl="0" indent="0" algn="l">
              <a:lnSpc>
                <a:spcPts val="2378"/>
              </a:lnSpc>
            </a:pPr>
            <a:r>
              <a:rPr lang="en-US" sz="1698">
                <a:solidFill>
                  <a:srgbClr val="000000"/>
                </a:solidFill>
                <a:latin typeface="Canva Sans"/>
                <a:ea typeface="Canva Sans"/>
                <a:cs typeface="Canva Sans"/>
                <a:sym typeface="Canva Sans"/>
              </a:rPr>
              <a:t>Transmission et accompagnement : Adaptation aux publics variés (jeunes et seniors). Capacité d'écoute, patience et communication. Travail en équipe et sens des responsabilités. Animation d'ateliers numériques intergénérationnels.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a:off x="3023878" y="1028700"/>
            <a:ext cx="11992896" cy="7697743"/>
            <a:chOff x="0" y="0"/>
            <a:chExt cx="6859995" cy="4403146"/>
          </a:xfrm>
        </p:grpSpPr>
        <p:sp>
          <p:nvSpPr>
            <p:cNvPr id="3" name="Freeform 3"/>
            <p:cNvSpPr/>
            <p:nvPr/>
          </p:nvSpPr>
          <p:spPr>
            <a:xfrm>
              <a:off x="0" y="0"/>
              <a:ext cx="6859995" cy="4403146"/>
            </a:xfrm>
            <a:custGeom>
              <a:avLst/>
              <a:gdLst/>
              <a:ahLst/>
              <a:cxnLst/>
              <a:rect l="l" t="t" r="r" b="b"/>
              <a:pathLst>
                <a:path w="6859995" h="4403146">
                  <a:moveTo>
                    <a:pt x="12911" y="0"/>
                  </a:moveTo>
                  <a:lnTo>
                    <a:pt x="6847084" y="0"/>
                  </a:lnTo>
                  <a:cubicBezTo>
                    <a:pt x="6850508" y="0"/>
                    <a:pt x="6853793" y="1360"/>
                    <a:pt x="6856214" y="3781"/>
                  </a:cubicBezTo>
                  <a:cubicBezTo>
                    <a:pt x="6858635" y="6203"/>
                    <a:pt x="6859995" y="9487"/>
                    <a:pt x="6859995" y="12911"/>
                  </a:cubicBezTo>
                  <a:lnTo>
                    <a:pt x="6859995" y="4390236"/>
                  </a:lnTo>
                  <a:cubicBezTo>
                    <a:pt x="6859995" y="4393660"/>
                    <a:pt x="6858635" y="4396944"/>
                    <a:pt x="6856214" y="4399365"/>
                  </a:cubicBezTo>
                  <a:cubicBezTo>
                    <a:pt x="6853793" y="4401786"/>
                    <a:pt x="6850508" y="4403146"/>
                    <a:pt x="6847084" y="4403146"/>
                  </a:cubicBezTo>
                  <a:lnTo>
                    <a:pt x="12911" y="4403146"/>
                  </a:lnTo>
                  <a:cubicBezTo>
                    <a:pt x="9487" y="4403146"/>
                    <a:pt x="6203" y="4401786"/>
                    <a:pt x="3781" y="4399365"/>
                  </a:cubicBezTo>
                  <a:cubicBezTo>
                    <a:pt x="1360" y="4396944"/>
                    <a:pt x="0" y="4393660"/>
                    <a:pt x="0" y="4390236"/>
                  </a:cubicBezTo>
                  <a:lnTo>
                    <a:pt x="0" y="12911"/>
                  </a:lnTo>
                  <a:cubicBezTo>
                    <a:pt x="0" y="9487"/>
                    <a:pt x="1360" y="6203"/>
                    <a:pt x="3781" y="3781"/>
                  </a:cubicBezTo>
                  <a:cubicBezTo>
                    <a:pt x="6203" y="1360"/>
                    <a:pt x="9487" y="0"/>
                    <a:pt x="12911" y="0"/>
                  </a:cubicBezTo>
                  <a:close/>
                </a:path>
              </a:pathLst>
            </a:custGeom>
            <a:solidFill>
              <a:srgbClr val="FFFFFF"/>
            </a:solidFill>
            <a:ln w="19050" cap="sq">
              <a:solidFill>
                <a:srgbClr val="000000"/>
              </a:solidFill>
              <a:prstDash val="solid"/>
              <a:miter/>
            </a:ln>
          </p:spPr>
          <p:txBody>
            <a:bodyPr/>
            <a:lstStyle/>
            <a:p>
              <a:endParaRPr lang="fr-FR"/>
            </a:p>
          </p:txBody>
        </p:sp>
        <p:sp>
          <p:nvSpPr>
            <p:cNvPr id="4" name="TextBox 4"/>
            <p:cNvSpPr txBox="1"/>
            <p:nvPr/>
          </p:nvSpPr>
          <p:spPr>
            <a:xfrm>
              <a:off x="0" y="-38100"/>
              <a:ext cx="6859995" cy="44412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509158" y="4834437"/>
            <a:ext cx="17269684" cy="7127670"/>
          </a:xfrm>
          <a:custGeom>
            <a:avLst/>
            <a:gdLst/>
            <a:ahLst/>
            <a:cxnLst/>
            <a:rect l="l" t="t" r="r" b="b"/>
            <a:pathLst>
              <a:path w="17269684" h="7127670">
                <a:moveTo>
                  <a:pt x="0" y="0"/>
                </a:moveTo>
                <a:lnTo>
                  <a:pt x="17269684" y="0"/>
                </a:lnTo>
                <a:lnTo>
                  <a:pt x="17269684" y="7127670"/>
                </a:lnTo>
                <a:lnTo>
                  <a:pt x="0" y="71276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6" name="TextBox 6"/>
          <p:cNvSpPr txBox="1"/>
          <p:nvPr/>
        </p:nvSpPr>
        <p:spPr>
          <a:xfrm>
            <a:off x="4036704" y="2771536"/>
            <a:ext cx="10214593" cy="2572019"/>
          </a:xfrm>
          <a:prstGeom prst="rect">
            <a:avLst/>
          </a:prstGeom>
        </p:spPr>
        <p:txBody>
          <a:bodyPr lIns="0" tIns="0" rIns="0" bIns="0" rtlCol="0" anchor="t">
            <a:spAutoFit/>
          </a:bodyPr>
          <a:lstStyle/>
          <a:p>
            <a:pPr marL="0" lvl="0" indent="0" algn="ctr">
              <a:lnSpc>
                <a:spcPts val="20985"/>
              </a:lnSpc>
              <a:spcBef>
                <a:spcPct val="0"/>
              </a:spcBef>
            </a:pPr>
            <a:r>
              <a:rPr lang="en-US" sz="14989" b="1">
                <a:solidFill>
                  <a:srgbClr val="000000"/>
                </a:solidFill>
                <a:latin typeface="Cy Grotesk Key Semi-Bold"/>
                <a:ea typeface="Cy Grotesk Key Semi-Bold"/>
                <a:cs typeface="Cy Grotesk Key Semi-Bold"/>
                <a:sym typeface="Cy Grotesk Key Semi-Bold"/>
              </a:rPr>
              <a:t>MERCI</a:t>
            </a:r>
          </a:p>
        </p:txBody>
      </p:sp>
      <p:sp>
        <p:nvSpPr>
          <p:cNvPr id="7" name="TextBox 7"/>
          <p:cNvSpPr txBox="1"/>
          <p:nvPr/>
        </p:nvSpPr>
        <p:spPr>
          <a:xfrm>
            <a:off x="4743949" y="5314711"/>
            <a:ext cx="8800102" cy="363829"/>
          </a:xfrm>
          <a:prstGeom prst="rect">
            <a:avLst/>
          </a:prstGeom>
        </p:spPr>
        <p:txBody>
          <a:bodyPr lIns="0" tIns="0" rIns="0" bIns="0" rtlCol="0" anchor="t">
            <a:spAutoFit/>
          </a:bodyPr>
          <a:lstStyle/>
          <a:p>
            <a:pPr marL="0" lvl="0" indent="0" algn="ctr">
              <a:lnSpc>
                <a:spcPts val="3046"/>
              </a:lnSpc>
              <a:spcBef>
                <a:spcPct val="0"/>
              </a:spcBef>
            </a:pPr>
            <a:r>
              <a:rPr lang="en-US" sz="2176" b="1">
                <a:solidFill>
                  <a:srgbClr val="C61800"/>
                </a:solidFill>
                <a:latin typeface="Canva Sans Bold"/>
                <a:ea typeface="Canva Sans Bold"/>
                <a:cs typeface="Canva Sans Bold"/>
                <a:sym typeface="Canva Sans Bold"/>
              </a:rPr>
              <a:t>L'informatique : un levier d'inclusion, d'éducation et de solidarité</a:t>
            </a:r>
          </a:p>
        </p:txBody>
      </p:sp>
      <p:sp>
        <p:nvSpPr>
          <p:cNvPr id="8" name="Freeform 8"/>
          <p:cNvSpPr/>
          <p:nvPr/>
        </p:nvSpPr>
        <p:spPr>
          <a:xfrm flipH="1">
            <a:off x="16553748" y="665485"/>
            <a:ext cx="985100" cy="922300"/>
          </a:xfrm>
          <a:custGeom>
            <a:avLst/>
            <a:gdLst/>
            <a:ahLst/>
            <a:cxnLst/>
            <a:rect l="l" t="t" r="r" b="b"/>
            <a:pathLst>
              <a:path w="985100" h="922300">
                <a:moveTo>
                  <a:pt x="985100" y="0"/>
                </a:moveTo>
                <a:lnTo>
                  <a:pt x="0" y="0"/>
                </a:lnTo>
                <a:lnTo>
                  <a:pt x="0" y="922300"/>
                </a:lnTo>
                <a:lnTo>
                  <a:pt x="985100" y="922300"/>
                </a:lnTo>
                <a:lnTo>
                  <a:pt x="9851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9" name="Freeform 9"/>
          <p:cNvSpPr/>
          <p:nvPr/>
        </p:nvSpPr>
        <p:spPr>
          <a:xfrm>
            <a:off x="776979" y="665485"/>
            <a:ext cx="985100" cy="922300"/>
          </a:xfrm>
          <a:custGeom>
            <a:avLst/>
            <a:gdLst/>
            <a:ahLst/>
            <a:cxnLst/>
            <a:rect l="l" t="t" r="r" b="b"/>
            <a:pathLst>
              <a:path w="985100" h="922300">
                <a:moveTo>
                  <a:pt x="0" y="0"/>
                </a:moveTo>
                <a:lnTo>
                  <a:pt x="985100" y="0"/>
                </a:lnTo>
                <a:lnTo>
                  <a:pt x="985100" y="922300"/>
                </a:lnTo>
                <a:lnTo>
                  <a:pt x="0" y="9223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1620</Words>
  <Application>Microsoft Office PowerPoint</Application>
  <PresentationFormat>Personnalisé</PresentationFormat>
  <Paragraphs>105</Paragraphs>
  <Slides>16</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16</vt:i4>
      </vt:variant>
    </vt:vector>
  </HeadingPairs>
  <TitlesOfParts>
    <vt:vector size="26" baseType="lpstr">
      <vt:lpstr>Cy Grotesk Key Semi-Bold</vt:lpstr>
      <vt:lpstr>Canva Sans Medium Italics</vt:lpstr>
      <vt:lpstr>Canva Sans Bold</vt:lpstr>
      <vt:lpstr>Calibri</vt:lpstr>
      <vt:lpstr>Canva Sans</vt:lpstr>
      <vt:lpstr>Cy Grotesk Key</vt:lpstr>
      <vt:lpstr>Canva Sans Italics</vt:lpstr>
      <vt:lpstr>Arial</vt:lpstr>
      <vt:lpstr>Cy Grotesk Key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projet numérique citoyen mené à Vigneux-sur-Seine dans le cadre du BTS Informatique.</dc:title>
  <cp:lastModifiedBy>HARIECHE Rayan</cp:lastModifiedBy>
  <cp:revision>3</cp:revision>
  <dcterms:created xsi:type="dcterms:W3CDTF">2006-08-16T00:00:00Z</dcterms:created>
  <dcterms:modified xsi:type="dcterms:W3CDTF">2026-05-11T05:30:08Z</dcterms:modified>
  <dc:identifier>DAHJTHvwiGU</dc:identifier>
</cp:coreProperties>
</file>